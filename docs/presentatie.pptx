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Relatief risico</c:v>
                </c:pt>
              </c:strCache>
            </c:strRef>
          </c:tx>
          <c:dPt>
            <c:idx val="0"/>
            <c:spPr>
              <a:solidFill>
                <a:srgbClr val="0C8066"/>
              </a:solidFill>
            </c:spPr>
          </c:dPt>
          <c:dPt>
            <c:idx val="1"/>
            <c:spPr>
              <a:solidFill>
                <a:srgbClr val="0C8066"/>
              </a:solidFill>
            </c:spPr>
          </c:dPt>
          <c:dPt>
            <c:idx val="2"/>
            <c:spPr>
              <a:solidFill>
                <a:srgbClr val="0C8066"/>
              </a:solidFill>
            </c:spPr>
          </c:dPt>
          <c:dPt>
            <c:idx val="3"/>
            <c:spPr>
              <a:solidFill>
                <a:srgbClr val="0C8066"/>
              </a:solidFill>
            </c:spPr>
          </c:dPt>
          <c:dPt>
            <c:idx val="4"/>
            <c:spPr>
              <a:solidFill>
                <a:srgbClr val="0C8066"/>
              </a:solidFill>
            </c:spPr>
          </c:dPt>
          <c:dPt>
            <c:idx val="5"/>
            <c:spPr>
              <a:solidFill>
                <a:srgbClr val="0C8066"/>
              </a:solidFill>
            </c:spPr>
          </c:dPt>
          <c:dPt>
            <c:idx val="6"/>
            <c:spPr>
              <a:solidFill>
                <a:srgbClr val="0C8066"/>
              </a:solidFill>
            </c:spPr>
          </c:dPt>
          <c:dPt>
            <c:idx val="7"/>
            <c:spPr>
              <a:solidFill>
                <a:srgbClr val="0C8066"/>
              </a:solidFill>
            </c:spPr>
          </c:dPt>
          <c:dPt>
            <c:idx val="8"/>
            <c:spPr>
              <a:solidFill>
                <a:srgbClr val="0C8066"/>
              </a:solidFill>
            </c:spPr>
          </c:dPt>
          <c:dPt>
            <c:idx val="9"/>
            <c:spPr>
              <a:solidFill>
                <a:srgbClr val="0C8066"/>
              </a:solidFill>
            </c:spPr>
          </c:dPt>
          <c:dPt>
            <c:idx val="10"/>
            <c:spPr>
              <a:solidFill>
                <a:srgbClr val="0C8066"/>
              </a:solidFill>
            </c:spPr>
          </c:dPt>
          <c:dPt>
            <c:idx val="11"/>
            <c:spPr>
              <a:solidFill>
                <a:srgbClr val="0C8066"/>
              </a:solidFill>
            </c:spPr>
          </c:dPt>
          <c:dPt>
            <c:idx val="12"/>
            <c:spPr>
              <a:solidFill>
                <a:srgbClr val="0C8066"/>
              </a:solidFill>
            </c:spPr>
          </c:dPt>
          <c:dPt>
            <c:idx val="13"/>
            <c:spPr>
              <a:solidFill>
                <a:srgbClr val="9AA5A0"/>
              </a:solidFill>
            </c:spPr>
          </c:dPt>
          <c:dPt>
            <c:idx val="14"/>
            <c:spPr>
              <a:solidFill>
                <a:srgbClr val="C0392B"/>
              </a:solidFill>
            </c:spPr>
          </c:dPt>
          <c:dPt>
            <c:idx val="15"/>
            <c:spPr>
              <a:solidFill>
                <a:srgbClr val="C0392B"/>
              </a:solidFill>
            </c:spPr>
          </c:dPt>
          <c:dPt>
            <c:idx val="16"/>
            <c:spPr>
              <a:solidFill>
                <a:srgbClr val="C0392B"/>
              </a:solidFill>
            </c:spPr>
          </c:dPt>
          <c:dPt>
            <c:idx val="17"/>
            <c:spPr>
              <a:solidFill>
                <a:srgbClr val="C0392B"/>
              </a:solidFill>
            </c:spPr>
          </c:dPt>
          <c:dPt>
            <c:idx val="18"/>
            <c:spPr>
              <a:solidFill>
                <a:srgbClr val="C0392B"/>
              </a:solidFill>
            </c:spPr>
          </c:dPt>
          <c:cat>
            <c:strRef>
              <c:f>Sheet1!$A$2:$A$20</c:f>
              <c:strCache>
                <c:ptCount val="19"/>
                <c:pt idx="0">
                  <c:v>I  Horeca</c:v>
                </c:pt>
                <c:pt idx="1">
                  <c:v>A  Landbouw</c:v>
                </c:pt>
                <c:pt idx="2">
                  <c:v>M  Specialistische zak. diensten</c:v>
                </c:pt>
                <c:pt idx="3">
                  <c:v>J  Informatie en communicatie</c:v>
                </c:pt>
                <c:pt idx="4">
                  <c:v>K  Financiële diensten</c:v>
                </c:pt>
                <c:pt idx="5">
                  <c:v>R  Cultuur en recreatie</c:v>
                </c:pt>
                <c:pt idx="6">
                  <c:v>L  Onroerend goed</c:v>
                </c:pt>
                <c:pt idx="7">
                  <c:v>D  Energie</c:v>
                </c:pt>
                <c:pt idx="8">
                  <c:v>G  Handel</c:v>
                </c:pt>
                <c:pt idx="9">
                  <c:v>F  Bouw</c:v>
                </c:pt>
                <c:pt idx="10">
                  <c:v>N  Overige zak. diensten</c:v>
                </c:pt>
                <c:pt idx="11">
                  <c:v>S  Overige dienstverlening</c:v>
                </c:pt>
                <c:pt idx="12">
                  <c:v>B  Delfstoffen</c:v>
                </c:pt>
                <c:pt idx="13">
                  <c:v>P  Onderwijs</c:v>
                </c:pt>
                <c:pt idx="14">
                  <c:v>C  Industrie</c:v>
                </c:pt>
                <c:pt idx="15">
                  <c:v>H  Vervoer en opslag</c:v>
                </c:pt>
                <c:pt idx="16">
                  <c:v>O  Openbaar bestuur</c:v>
                </c:pt>
                <c:pt idx="17">
                  <c:v>E  Water en afval</c:v>
                </c:pt>
                <c:pt idx="18">
                  <c:v>Q  Zorg en welzijn</c:v>
                </c:pt>
              </c:strCache>
            </c:strRef>
          </c:cat>
          <c:val>
            <c:numRef>
              <c:f>Sheet1!$B$2:$B$20</c:f>
              <c:numCache>
                <c:formatCode>General</c:formatCode>
                <c:ptCount val="19"/>
                <c:pt idx="0">
                  <c:v>0.606</c:v>
                </c:pt>
                <c:pt idx="1">
                  <c:v>0.611</c:v>
                </c:pt>
                <c:pt idx="2">
                  <c:v>0.639</c:v>
                </c:pt>
                <c:pt idx="3">
                  <c:v>0.73</c:v>
                </c:pt>
                <c:pt idx="4">
                  <c:v>0.748</c:v>
                </c:pt>
                <c:pt idx="5">
                  <c:v>0.803</c:v>
                </c:pt>
                <c:pt idx="6">
                  <c:v>0.803</c:v>
                </c:pt>
                <c:pt idx="7">
                  <c:v>0.843</c:v>
                </c:pt>
                <c:pt idx="8">
                  <c:v>0.891</c:v>
                </c:pt>
                <c:pt idx="9">
                  <c:v>0.9</c:v>
                </c:pt>
                <c:pt idx="10">
                  <c:v>0.903</c:v>
                </c:pt>
                <c:pt idx="11">
                  <c:v>0.912</c:v>
                </c:pt>
                <c:pt idx="12">
                  <c:v>0.934</c:v>
                </c:pt>
                <c:pt idx="13">
                  <c:v>1.044</c:v>
                </c:pt>
                <c:pt idx="14">
                  <c:v>1.15</c:v>
                </c:pt>
                <c:pt idx="15">
                  <c:v>1.153</c:v>
                </c:pt>
                <c:pt idx="16">
                  <c:v>1.173</c:v>
                </c:pt>
                <c:pt idx="17">
                  <c:v>1.241</c:v>
                </c:pt>
                <c:pt idx="18">
                  <c:v>1.401</c:v>
                </c:pt>
              </c:numCache>
            </c:numRef>
          </c:val>
        </c:ser>
        <c:dLbls>
          <c:numFmt formatCode="0.00" sourceLinked="0"/>
          <c:txPr>
            <a:bodyPr/>
            <a:lstStyle/>
            <a:p>
              <a:pPr>
                <a:defRPr sz="1100">
                  <a:solidFill>
                    <a:srgbClr val="1A1A1A"/>
                  </a:solidFill>
                  <a:latin typeface="Calibri"/>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out"/>
        <c:minorTickMark val="none"/>
        <c:tickLblPos val="nextTo"/>
        <c:spPr>
          <a:ln>
            <a:solidFill>
              <a:srgbClr val="C3C2B7"/>
            </a:solidFill>
          </a:ln>
        </c:spPr>
        <c:txPr>
          <a:bodyPr/>
          <a:lstStyle/>
          <a:p>
            <a:pPr>
              <a:defRPr sz="1100">
                <a:solidFill>
                  <a:srgbClr val="1A1A1A"/>
                </a:solidFill>
                <a:latin typeface="Calibri"/>
              </a:defRPr>
            </a:pPr>
          </a:p>
        </c:txPr>
        <c:crossAx val="-2113994440"/>
        <c:crosses val="autoZero"/>
        <c:auto val="1"/>
        <c:lblAlgn val="ctr"/>
        <c:lblOffset val="100"/>
        <c:noMultiLvlLbl val="0"/>
      </c:catAx>
      <c:valAx>
        <c:axId val="-2113994440"/>
        <c:scaling>
          <c:max val="1.6"/>
          <c:min val="0.0"/>
        </c:scaling>
        <c:delete val="0"/>
        <c:axPos val="b"/>
        <c:majorGridlines>
          <c:spPr>
            <a:ln>
              <a:solidFill>
                <a:srgbClr val="DDE3E0"/>
              </a:solidFill>
            </a:ln>
          </c:spPr>
        </c:majorGridlines>
        <c:numFmt formatCode="0.0" sourceLinked="0"/>
        <c:majorTickMark val="out"/>
        <c:minorTickMark val="none"/>
        <c:tickLblPos val="nextTo"/>
        <c:spPr>
          <a:ln>
            <a:noFill/>
          </a:ln>
        </c:spPr>
        <c:txPr>
          <a:bodyPr/>
          <a:lstStyle/>
          <a:p>
            <a:pPr>
              <a:defRPr sz="1100">
                <a:solidFill>
                  <a:srgbClr val="5F6B66"/>
                </a:solidFill>
                <a:latin typeface="Calibri"/>
              </a:defRPr>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Welkom. In ongeveer vijftien minuten laat ik zien hoe ik voor een inkomensverzekeraar een dataplatform heb gebouwd dat met openbare cijfers het verzuimrisico per sector en bedrijfsgrootte zichtbaar maakt, inclusief een korte demo.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Het schaderisico van een inkomensverzekeraar is in de kern verzuimrisico. Onze eigen benchmarks kan ik hier niet gebruiken: daar zitten gezondheidsgegevens in. Daarom de op één na beste bron: het CBS. Die cijfers vervangen de eigen cijfers niet, maar zijn privacyvrij, beslaan de hele markt en zijn onafhankelijk. (~1 min)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hoofdvraag, met zes deelvragen. Belangrijk: het CBS publiceert sector en grootte apart, nooit gecombineerd, en de cijfers gaan over werknemers, niet over zelfstandigen. (~1 min)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Het canvas uit de colleges, ingevuld: vier openbare bronnen, de levenscyclus van ingestie tot monitoring met Dagster als workflow, en rechts het gebruik: de analist, via de manager naar risicomanagement en accountmanagers. Drie principes: automatisch, gecontroleerd en herleidbaar. (~1,5 min)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Vier keuzes die ik bewust heb gemaakt, telkens passend bij de omvang en de eisen in plaats van het zwaarste gereedschap. Deze slide kan vervallen bij een korter tijdslot. (~1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Het relatief risico per sectie: verzuim over de laatste vier kwartalen gedeeld door landelijk. Rood: in alle acht kwartalen boven landelijk; groen: steeds eronder. De zorg springt eruit met 1,40. Grootte: kleine bedrijven 0,48 van landelijk, grote 1,16. Let op: de laatste twee kwartalen zijn voorlopig. (~1,5 min)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enquête laat zien waaróm: in de zorg verzuimen meer mensen, langer, en vaker door het werk, vooral besmetting en emotioneel zwaar werk. Maar 42 van de 65 maten liggen binnen de foutmarge, en het blijft samenhang: de cijfers zeggen niets over één werkgever. En een terugtoets op de historie laat zien: een oordeel hoger of lager houdt een jaar later stand, maar een trend voorspelt niet; met alleen definitieve cijfers stijgt zelfs een andere sector. (~1,5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ongeveer vijf minuten; volg docs/demo.md. Valt iets live uit, gebruik de terugvalopties uit dat script.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Betrouwbaar: 395 tests, ook in GitHub Actions. Verantwoord: geen persoonsgegevens van verzekerden. En generatieve AI: ik heb Claude als ontwikkelassistent gebruikt; acht keer bleek iets niet te kloppen, zoals een CI-test die als gedaan was afgevinkt maar nooit had gedraaid, en een verborgen koppelfout die pas een tweede review vond. Daarom is alles getest en gemeten. Deze slide kan vervallen bij een korter tijdslot. (~1 min)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Conclusie: sector en grootte gaan duidelijk samen met verzuim, en het platform maakt dat herhaalbaar en herleidbaar zonder privacyrisico. Mijn advies: gebruik het naast de eigen cijfers en op groepsniveau, lees een trend niet als voorspelling, laat compliance meekijken, en koppel pas na een DPIA. Vragen? (~1 min)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3B30"/>
        </a:solidFill>
        <a:effectLst/>
      </p:bgPr>
    </p:bg>
    <p:spTree>
      <p:nvGrpSpPr>
        <p:cNvPr id="1" name=""/>
        <p:cNvGrpSpPr/>
        <p:nvPr/>
      </p:nvGrpSpPr>
      <p:grpSpPr/>
      <p:sp>
        <p:nvSpPr>
          <p:cNvPr id="2" name="decoration"/>
          <p:cNvSpPr/>
          <p:nvPr/>
        </p:nvSpPr>
        <p:spPr>
          <a:xfrm>
            <a:off x="8778240" y="-1280160"/>
            <a:ext cx="4754880" cy="4754880"/>
          </a:xfrm>
          <a:prstGeom prst="ellipse">
            <a:avLst/>
          </a:prstGeom>
          <a:solidFill>
            <a:srgbClr val="104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ecoration"/>
          <p:cNvSpPr/>
          <p:nvPr/>
        </p:nvSpPr>
        <p:spPr>
          <a:xfrm>
            <a:off x="10241280" y="4023360"/>
            <a:ext cx="3108960" cy="3108960"/>
          </a:xfrm>
          <a:prstGeom prst="ellipse">
            <a:avLst/>
          </a:prstGeom>
          <a:solidFill>
            <a:srgbClr val="0E45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731520" y="1920240"/>
            <a:ext cx="8412480" cy="1737360"/>
          </a:xfrm>
          <a:prstGeom prst="rect">
            <a:avLst/>
          </a:prstGeom>
          <a:noFill/>
        </p:spPr>
        <p:txBody>
          <a:bodyPr wrap="square" lIns="0" rIns="0" tIns="0" bIns="0" anchor="b">
            <a:spAutoFit/>
          </a:bodyPr>
          <a:lstStyle/>
          <a:p>
            <a:pPr algn="l"/>
            <a:r>
              <a:rPr sz="4400" b="1">
                <a:solidFill>
                  <a:srgbClr val="FFFFFF"/>
                </a:solidFill>
                <a:latin typeface="Calibri"/>
              </a:rPr>
              <a:t>Verzuimrisico per sector en bedrijfsgrootte</a:t>
            </a:r>
          </a:p>
        </p:txBody>
      </p:sp>
      <p:sp>
        <p:nvSpPr>
          <p:cNvPr id="5" name="subtitle"/>
          <p:cNvSpPr txBox="1"/>
          <p:nvPr/>
        </p:nvSpPr>
        <p:spPr>
          <a:xfrm>
            <a:off x="731520" y="3794760"/>
            <a:ext cx="8412480" cy="822960"/>
          </a:xfrm>
          <a:prstGeom prst="rect">
            <a:avLst/>
          </a:prstGeom>
          <a:noFill/>
        </p:spPr>
        <p:txBody>
          <a:bodyPr wrap="square" lIns="0" rIns="0" tIns="0" bIns="0" anchor="t">
            <a:spAutoFit/>
          </a:bodyPr>
          <a:lstStyle/>
          <a:p>
            <a:pPr algn="l"/>
            <a:r>
              <a:rPr sz="2200" b="0">
                <a:solidFill>
                  <a:srgbClr val="BFDBD1"/>
                </a:solidFill>
                <a:latin typeface="Calibri"/>
              </a:rPr>
              <a:t>Een data- en AI-engineeringbenadering voor een inkomensverzekeraar</a:t>
            </a:r>
          </a:p>
        </p:txBody>
      </p:sp>
      <p:sp>
        <p:nvSpPr>
          <p:cNvPr id="6" name="byline"/>
          <p:cNvSpPr txBox="1"/>
          <p:nvPr/>
        </p:nvSpPr>
        <p:spPr>
          <a:xfrm>
            <a:off x="731520" y="5760720"/>
            <a:ext cx="10058400" cy="365760"/>
          </a:xfrm>
          <a:prstGeom prst="rect">
            <a:avLst/>
          </a:prstGeom>
          <a:noFill/>
        </p:spPr>
        <p:txBody>
          <a:bodyPr wrap="square" lIns="0" rIns="0" tIns="0" bIns="0" anchor="t">
            <a:spAutoFit/>
          </a:bodyPr>
          <a:lstStyle/>
          <a:p>
            <a:pPr algn="l"/>
            <a:r>
              <a:rPr sz="1400" b="0">
                <a:solidFill>
                  <a:srgbClr val="BFDBD1"/>
                </a:solidFill>
                <a:latin typeface="Calibri"/>
              </a:rPr>
              <a:t>Stefan  ·  Data and AI Engineering  ·  Erasmus Universiteit Rotterdam  ·  januari 2027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94415" cy="822960"/>
          </a:xfrm>
          <a:prstGeom prst="rect">
            <a:avLst/>
          </a:prstGeom>
          <a:noFill/>
        </p:spPr>
        <p:txBody>
          <a:bodyPr wrap="square" lIns="0" rIns="0" tIns="0" bIns="0" anchor="ctr">
            <a:spAutoFit/>
          </a:bodyPr>
          <a:lstStyle/>
          <a:p>
            <a:pPr algn="l"/>
            <a:r>
              <a:rPr sz="3600" b="1">
                <a:solidFill>
                  <a:srgbClr val="0B3B30"/>
                </a:solidFill>
                <a:latin typeface="Calibri"/>
              </a:rPr>
              <a:t>Het vraagstuk</a:t>
            </a:r>
          </a:p>
        </p:txBody>
      </p:sp>
      <p:sp>
        <p:nvSpPr>
          <p:cNvPr id="3" name="footer"/>
          <p:cNvSpPr txBox="1"/>
          <p:nvPr/>
        </p:nvSpPr>
        <p:spPr>
          <a:xfrm>
            <a:off x="548640" y="6400800"/>
            <a:ext cx="7315200" cy="274320"/>
          </a:xfrm>
          <a:prstGeom prst="rect">
            <a:avLst/>
          </a:prstGeom>
          <a:noFill/>
        </p:spPr>
        <p:txBody>
          <a:bodyPr wrap="square" lIns="0" rIns="0" tIns="0" bIns="0" anchor="t">
            <a:spAutoFit/>
          </a:bodyPr>
          <a:lstStyle/>
          <a:p>
            <a:pPr algn="l"/>
            <a:r>
              <a:rPr sz="1000" b="0">
                <a:solidFill>
                  <a:srgbClr val="5F6B66"/>
                </a:solidFill>
                <a:latin typeface="Calibri"/>
              </a:rPr>
              <a:t>Verzuimrisico per sector en bedrijfsgrootte  ·  Data and AI Engineering</a:t>
            </a:r>
          </a:p>
        </p:txBody>
      </p:sp>
      <p:sp>
        <p:nvSpPr>
          <p:cNvPr id="4" name="slide number"/>
          <p:cNvSpPr txBox="1"/>
          <p:nvPr/>
        </p:nvSpPr>
        <p:spPr>
          <a:xfrm>
            <a:off x="10728655" y="6400800"/>
            <a:ext cx="914400" cy="274320"/>
          </a:xfrm>
          <a:prstGeom prst="rect">
            <a:avLst/>
          </a:prstGeom>
          <a:noFill/>
        </p:spPr>
        <p:txBody>
          <a:bodyPr wrap="square" lIns="0" rIns="0" tIns="0" bIns="0" anchor="t">
            <a:spAutoFit/>
          </a:bodyPr>
          <a:lstStyle/>
          <a:p>
            <a:pPr algn="r"/>
            <a:r>
              <a:rPr sz="1000" b="0">
                <a:solidFill>
                  <a:srgbClr val="5F6B66"/>
                </a:solidFill>
                <a:latin typeface="Calibri"/>
              </a:rPr>
              <a:t>2</a:t>
            </a:r>
          </a:p>
        </p:txBody>
      </p:sp>
      <p:sp>
        <p:nvSpPr>
          <p:cNvPr id="5" name="intro"/>
          <p:cNvSpPr txBox="1"/>
          <p:nvPr/>
        </p:nvSpPr>
        <p:spPr>
          <a:xfrm>
            <a:off x="548640" y="1508760"/>
            <a:ext cx="4937760" cy="4389120"/>
          </a:xfrm>
          <a:prstGeom prst="rect">
            <a:avLst/>
          </a:prstGeom>
          <a:noFill/>
        </p:spPr>
        <p:txBody>
          <a:bodyPr wrap="square" lIns="0" rIns="0" tIns="0" bIns="0" anchor="t">
            <a:spAutoFit/>
          </a:bodyPr>
          <a:lstStyle/>
          <a:p>
            <a:pPr algn="l">
              <a:spcAft>
                <a:spcPts val="1000"/>
              </a:spcAft>
            </a:pPr>
            <a:r>
              <a:rPr sz="2400" b="1">
                <a:solidFill>
                  <a:srgbClr val="0B3B30"/>
                </a:solidFill>
                <a:latin typeface="Calibri"/>
              </a:rPr>
              <a:t>Schaderisico = verzuimrisico</a:t>
            </a:r>
          </a:p>
          <a:p>
            <a:pPr algn="l">
              <a:spcAft>
                <a:spcPts val="1000"/>
              </a:spcAft>
            </a:pPr>
            <a:r>
              <a:rPr sz="1600" b="0">
                <a:solidFill>
                  <a:srgbClr val="1A1A1A"/>
                </a:solidFill>
                <a:latin typeface="Calibri"/>
              </a:rPr>
              <a:t>Een inkomensverzekeraar keert uit bij ziekte en arbeidsongeschiktheid. Hoe vaak en hoe lang mensen verzuimen, verschilt sterk per sector en bedrijfsgrootte.</a:t>
            </a:r>
          </a:p>
          <a:p>
            <a:pPr algn="l">
              <a:spcAft>
                <a:spcPts val="1000"/>
              </a:spcAft>
            </a:pPr>
            <a:r>
              <a:rPr sz="2000" b="1">
                <a:solidFill>
                  <a:srgbClr val="0B3B30"/>
                </a:solidFill>
                <a:latin typeface="Calibri"/>
              </a:rPr>
              <a:t>Eigen benchmarks: niet bruikbaar</a:t>
            </a:r>
          </a:p>
          <a:p>
            <a:pPr algn="l">
              <a:spcAft>
                <a:spcPts val="1000"/>
              </a:spcAft>
            </a:pPr>
            <a:r>
              <a:rPr sz="1600" b="0">
                <a:solidFill>
                  <a:srgbClr val="1A1A1A"/>
                </a:solidFill>
                <a:latin typeface="Calibri"/>
              </a:rPr>
              <a:t>Ze zijn gebaseerd op polis- en schadegegevens, met gezondheidsgegevens van verzekerden.</a:t>
            </a:r>
          </a:p>
          <a:p>
            <a:pPr algn="l">
              <a:spcAft>
                <a:spcPts val="1000"/>
              </a:spcAft>
            </a:pPr>
            <a:r>
              <a:rPr sz="2000" b="1">
                <a:solidFill>
                  <a:srgbClr val="0C8066"/>
                </a:solidFill>
                <a:latin typeface="Calibri"/>
              </a:rPr>
              <a:t>Op één na beste bron: het CBS</a:t>
            </a:r>
          </a:p>
        </p:txBody>
      </p:sp>
      <p:sp>
        <p:nvSpPr>
          <p:cNvPr id="6" name="card Privacyvrij"/>
          <p:cNvSpPr/>
          <p:nvPr/>
        </p:nvSpPr>
        <p:spPr>
          <a:xfrm>
            <a:off x="6035040" y="1508760"/>
            <a:ext cx="5577840" cy="1280160"/>
          </a:xfrm>
          <a:prstGeom prst="roundRect">
            <a:avLst>
              <a:gd name="adj" fmla="val 8000"/>
            </a:avLst>
          </a:prstGeom>
          <a:solidFill>
            <a:srgbClr val="E8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badge 1"/>
          <p:cNvSpPr/>
          <p:nvPr/>
        </p:nvSpPr>
        <p:spPr>
          <a:xfrm>
            <a:off x="6309360" y="1892807"/>
            <a:ext cx="502920" cy="502920"/>
          </a:xfrm>
          <a:prstGeom prst="ellipse">
            <a:avLst/>
          </a:prstGeom>
          <a:solidFill>
            <a:srgbClr val="0C80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8" name="text Privacyvrij"/>
          <p:cNvSpPr txBox="1"/>
          <p:nvPr/>
        </p:nvSpPr>
        <p:spPr>
          <a:xfrm>
            <a:off x="7086600" y="1709928"/>
            <a:ext cx="4297680" cy="914400"/>
          </a:xfrm>
          <a:prstGeom prst="rect">
            <a:avLst/>
          </a:prstGeom>
          <a:noFill/>
        </p:spPr>
        <p:txBody>
          <a:bodyPr wrap="square" lIns="0" rIns="0" tIns="0" bIns="0" anchor="t">
            <a:spAutoFit/>
          </a:bodyPr>
          <a:lstStyle/>
          <a:p>
            <a:pPr algn="l">
              <a:spcAft>
                <a:spcPts val="200"/>
              </a:spcAft>
            </a:pPr>
            <a:r>
              <a:rPr sz="2000" b="1">
                <a:solidFill>
                  <a:srgbClr val="0B3B30"/>
                </a:solidFill>
                <a:latin typeface="Calibri"/>
              </a:rPr>
              <a:t>Privacyvrij</a:t>
            </a:r>
          </a:p>
          <a:p>
            <a:pPr algn="l">
              <a:spcAft>
                <a:spcPts val="200"/>
              </a:spcAft>
            </a:pPr>
            <a:r>
              <a:rPr sz="1500" b="0">
                <a:solidFill>
                  <a:srgbClr val="1A1A1A"/>
                </a:solidFill>
                <a:latin typeface="Calibri"/>
              </a:rPr>
              <a:t>Geaggregeerde openbare cijfers: vrij te combineren en te delen met werkgevers</a:t>
            </a:r>
          </a:p>
        </p:txBody>
      </p:sp>
      <p:sp>
        <p:nvSpPr>
          <p:cNvPr id="9" name="card De hele markt"/>
          <p:cNvSpPr/>
          <p:nvPr/>
        </p:nvSpPr>
        <p:spPr>
          <a:xfrm>
            <a:off x="6035040" y="3017520"/>
            <a:ext cx="5577840" cy="1280160"/>
          </a:xfrm>
          <a:prstGeom prst="roundRect">
            <a:avLst>
              <a:gd name="adj" fmla="val 8000"/>
            </a:avLst>
          </a:prstGeom>
          <a:solidFill>
            <a:srgbClr val="E8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dge 2"/>
          <p:cNvSpPr/>
          <p:nvPr/>
        </p:nvSpPr>
        <p:spPr>
          <a:xfrm>
            <a:off x="6309360" y="3401568"/>
            <a:ext cx="502920" cy="502920"/>
          </a:xfrm>
          <a:prstGeom prst="ellipse">
            <a:avLst/>
          </a:prstGeom>
          <a:solidFill>
            <a:srgbClr val="0C80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11" name="text De hele markt"/>
          <p:cNvSpPr txBox="1"/>
          <p:nvPr/>
        </p:nvSpPr>
        <p:spPr>
          <a:xfrm>
            <a:off x="7086600" y="3218688"/>
            <a:ext cx="4297680" cy="914400"/>
          </a:xfrm>
          <a:prstGeom prst="rect">
            <a:avLst/>
          </a:prstGeom>
          <a:noFill/>
        </p:spPr>
        <p:txBody>
          <a:bodyPr wrap="square" lIns="0" rIns="0" tIns="0" bIns="0" anchor="t">
            <a:spAutoFit/>
          </a:bodyPr>
          <a:lstStyle/>
          <a:p>
            <a:pPr algn="l">
              <a:spcAft>
                <a:spcPts val="200"/>
              </a:spcAft>
            </a:pPr>
            <a:r>
              <a:rPr sz="2000" b="1">
                <a:solidFill>
                  <a:srgbClr val="0B3B30"/>
                </a:solidFill>
                <a:latin typeface="Calibri"/>
              </a:rPr>
              <a:t>De hele markt</a:t>
            </a:r>
          </a:p>
          <a:p>
            <a:pPr algn="l">
              <a:spcAft>
                <a:spcPts val="200"/>
              </a:spcAft>
            </a:pPr>
            <a:r>
              <a:rPr sz="1500" b="0">
                <a:solidFill>
                  <a:srgbClr val="1A1A1A"/>
                </a:solidFill>
                <a:latin typeface="Calibri"/>
              </a:rPr>
              <a:t>Ook sectoren waar de verzekeraar weinig polissen heeft</a:t>
            </a:r>
          </a:p>
        </p:txBody>
      </p:sp>
      <p:sp>
        <p:nvSpPr>
          <p:cNvPr id="12" name="card Onafhankelijk"/>
          <p:cNvSpPr/>
          <p:nvPr/>
        </p:nvSpPr>
        <p:spPr>
          <a:xfrm>
            <a:off x="6035040" y="4526279"/>
            <a:ext cx="5577840" cy="1280160"/>
          </a:xfrm>
          <a:prstGeom prst="roundRect">
            <a:avLst>
              <a:gd name="adj" fmla="val 8000"/>
            </a:avLst>
          </a:prstGeom>
          <a:solidFill>
            <a:srgbClr val="E8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dge 3"/>
          <p:cNvSpPr/>
          <p:nvPr/>
        </p:nvSpPr>
        <p:spPr>
          <a:xfrm>
            <a:off x="6309360" y="4910327"/>
            <a:ext cx="502920" cy="502920"/>
          </a:xfrm>
          <a:prstGeom prst="ellipse">
            <a:avLst/>
          </a:prstGeom>
          <a:solidFill>
            <a:srgbClr val="0C80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4" name="text Onafhankelijk"/>
          <p:cNvSpPr txBox="1"/>
          <p:nvPr/>
        </p:nvSpPr>
        <p:spPr>
          <a:xfrm>
            <a:off x="7086600" y="4727447"/>
            <a:ext cx="4297680" cy="914400"/>
          </a:xfrm>
          <a:prstGeom prst="rect">
            <a:avLst/>
          </a:prstGeom>
          <a:noFill/>
        </p:spPr>
        <p:txBody>
          <a:bodyPr wrap="square" lIns="0" rIns="0" tIns="0" bIns="0" anchor="t">
            <a:spAutoFit/>
          </a:bodyPr>
          <a:lstStyle/>
          <a:p>
            <a:pPr algn="l">
              <a:spcAft>
                <a:spcPts val="200"/>
              </a:spcAft>
            </a:pPr>
            <a:r>
              <a:rPr sz="2000" b="1">
                <a:solidFill>
                  <a:srgbClr val="0B3B30"/>
                </a:solidFill>
                <a:latin typeface="Calibri"/>
              </a:rPr>
              <a:t>Onafhankelijk</a:t>
            </a:r>
          </a:p>
          <a:p>
            <a:pPr algn="l">
              <a:spcAft>
                <a:spcPts val="200"/>
              </a:spcAft>
            </a:pPr>
            <a:r>
              <a:rPr sz="1500" b="0">
                <a:solidFill>
                  <a:srgbClr val="1A1A1A"/>
                </a:solidFill>
                <a:latin typeface="Calibri"/>
              </a:rPr>
              <a:t>Een externe referentie naast de eigen portefeuille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94415" cy="822960"/>
          </a:xfrm>
          <a:prstGeom prst="rect">
            <a:avLst/>
          </a:prstGeom>
          <a:noFill/>
        </p:spPr>
        <p:txBody>
          <a:bodyPr wrap="square" lIns="0" rIns="0" tIns="0" bIns="0" anchor="ctr">
            <a:spAutoFit/>
          </a:bodyPr>
          <a:lstStyle/>
          <a:p>
            <a:pPr algn="l"/>
            <a:r>
              <a:rPr sz="3600" b="1">
                <a:solidFill>
                  <a:srgbClr val="0B3B30"/>
                </a:solidFill>
                <a:latin typeface="Calibri"/>
              </a:rPr>
              <a:t>De vraag</a:t>
            </a:r>
          </a:p>
        </p:txBody>
      </p:sp>
      <p:sp>
        <p:nvSpPr>
          <p:cNvPr id="3" name="footer"/>
          <p:cNvSpPr txBox="1"/>
          <p:nvPr/>
        </p:nvSpPr>
        <p:spPr>
          <a:xfrm>
            <a:off x="548640" y="6400800"/>
            <a:ext cx="7315200" cy="274320"/>
          </a:xfrm>
          <a:prstGeom prst="rect">
            <a:avLst/>
          </a:prstGeom>
          <a:noFill/>
        </p:spPr>
        <p:txBody>
          <a:bodyPr wrap="square" lIns="0" rIns="0" tIns="0" bIns="0" anchor="t">
            <a:spAutoFit/>
          </a:bodyPr>
          <a:lstStyle/>
          <a:p>
            <a:pPr algn="l"/>
            <a:r>
              <a:rPr sz="1000" b="0">
                <a:solidFill>
                  <a:srgbClr val="5F6B66"/>
                </a:solidFill>
                <a:latin typeface="Calibri"/>
              </a:rPr>
              <a:t>Verzuimrisico per sector en bedrijfsgrootte  ·  Data and AI Engineering</a:t>
            </a:r>
          </a:p>
        </p:txBody>
      </p:sp>
      <p:sp>
        <p:nvSpPr>
          <p:cNvPr id="4" name="slide number"/>
          <p:cNvSpPr txBox="1"/>
          <p:nvPr/>
        </p:nvSpPr>
        <p:spPr>
          <a:xfrm>
            <a:off x="10728655" y="6400800"/>
            <a:ext cx="914400" cy="274320"/>
          </a:xfrm>
          <a:prstGeom prst="rect">
            <a:avLst/>
          </a:prstGeom>
          <a:noFill/>
        </p:spPr>
        <p:txBody>
          <a:bodyPr wrap="square" lIns="0" rIns="0" tIns="0" bIns="0" anchor="t">
            <a:spAutoFit/>
          </a:bodyPr>
          <a:lstStyle/>
          <a:p>
            <a:pPr algn="r"/>
            <a:r>
              <a:rPr sz="1000" b="0">
                <a:solidFill>
                  <a:srgbClr val="5F6B66"/>
                </a:solidFill>
                <a:latin typeface="Calibri"/>
              </a:rPr>
              <a:t>3</a:t>
            </a:r>
          </a:p>
        </p:txBody>
      </p:sp>
      <p:sp>
        <p:nvSpPr>
          <p:cNvPr id="5" name="main question"/>
          <p:cNvSpPr/>
          <p:nvPr/>
        </p:nvSpPr>
        <p:spPr>
          <a:xfrm>
            <a:off x="548640" y="1463040"/>
            <a:ext cx="11094415" cy="1143000"/>
          </a:xfrm>
          <a:prstGeom prst="roundRect">
            <a:avLst>
              <a:gd name="adj" fmla="val 8000"/>
            </a:avLst>
          </a:prstGeom>
          <a:solidFill>
            <a:srgbClr val="0B3B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main question text"/>
          <p:cNvSpPr txBox="1"/>
          <p:nvPr/>
        </p:nvSpPr>
        <p:spPr>
          <a:xfrm>
            <a:off x="914400" y="1463040"/>
            <a:ext cx="10362895" cy="1143000"/>
          </a:xfrm>
          <a:prstGeom prst="rect">
            <a:avLst/>
          </a:prstGeom>
          <a:noFill/>
        </p:spPr>
        <p:txBody>
          <a:bodyPr wrap="square" lIns="0" rIns="0" tIns="0" bIns="0" anchor="ctr">
            <a:spAutoFit/>
          </a:bodyPr>
          <a:lstStyle/>
          <a:p>
            <a:pPr algn="l"/>
            <a:r>
              <a:rPr sz="2600" b="1">
                <a:solidFill>
                  <a:srgbClr val="FFFFFF"/>
                </a:solidFill>
                <a:latin typeface="Calibri"/>
              </a:rPr>
              <a:t>Welke bedrijfskenmerken (sector en grootteklasse) gaan samen met hoger ziekteverzuim?</a:t>
            </a:r>
          </a:p>
        </p:txBody>
      </p:sp>
      <p:sp>
        <p:nvSpPr>
          <p:cNvPr id="7" name="sub-question 1"/>
          <p:cNvSpPr/>
          <p:nvPr/>
        </p:nvSpPr>
        <p:spPr>
          <a:xfrm>
            <a:off x="548640" y="2971800"/>
            <a:ext cx="3520440" cy="1325880"/>
          </a:xfrm>
          <a:prstGeom prst="roundRect">
            <a:avLst>
              <a:gd name="adj" fmla="val 8000"/>
            </a:avLst>
          </a:prstGeom>
          <a:solidFill>
            <a:srgbClr val="E8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dge 1"/>
          <p:cNvSpPr/>
          <p:nvPr/>
        </p:nvSpPr>
        <p:spPr>
          <a:xfrm>
            <a:off x="822959" y="3383280"/>
            <a:ext cx="502920" cy="502920"/>
          </a:xfrm>
          <a:prstGeom prst="ellipse">
            <a:avLst/>
          </a:prstGeom>
          <a:solidFill>
            <a:srgbClr val="0C80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9" name="sub-question text 1"/>
          <p:cNvSpPr txBox="1"/>
          <p:nvPr/>
        </p:nvSpPr>
        <p:spPr>
          <a:xfrm>
            <a:off x="1508760" y="3154680"/>
            <a:ext cx="2423160" cy="960120"/>
          </a:xfrm>
          <a:prstGeom prst="rect">
            <a:avLst/>
          </a:prstGeom>
          <a:noFill/>
        </p:spPr>
        <p:txBody>
          <a:bodyPr wrap="square" lIns="0" rIns="0" tIns="0" bIns="0" anchor="ctr">
            <a:spAutoFit/>
          </a:bodyPr>
          <a:lstStyle/>
          <a:p>
            <a:pPr algn="l"/>
            <a:r>
              <a:rPr sz="1800" b="1">
                <a:solidFill>
                  <a:srgbClr val="0B3B30"/>
                </a:solidFill>
                <a:latin typeface="Calibri"/>
              </a:rPr>
              <a:t>Hoogste en laagste sectoren?</a:t>
            </a:r>
          </a:p>
        </p:txBody>
      </p:sp>
      <p:sp>
        <p:nvSpPr>
          <p:cNvPr id="10" name="sub-question 2"/>
          <p:cNvSpPr/>
          <p:nvPr/>
        </p:nvSpPr>
        <p:spPr>
          <a:xfrm>
            <a:off x="4297679" y="2971800"/>
            <a:ext cx="3520440" cy="1325880"/>
          </a:xfrm>
          <a:prstGeom prst="roundRect">
            <a:avLst>
              <a:gd name="adj" fmla="val 8000"/>
            </a:avLst>
          </a:prstGeom>
          <a:solidFill>
            <a:srgbClr val="E8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dge 2"/>
          <p:cNvSpPr/>
          <p:nvPr/>
        </p:nvSpPr>
        <p:spPr>
          <a:xfrm>
            <a:off x="4571999" y="3383280"/>
            <a:ext cx="502920" cy="502920"/>
          </a:xfrm>
          <a:prstGeom prst="ellipse">
            <a:avLst/>
          </a:prstGeom>
          <a:solidFill>
            <a:srgbClr val="0C80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12" name="sub-question text 2"/>
          <p:cNvSpPr txBox="1"/>
          <p:nvPr/>
        </p:nvSpPr>
        <p:spPr>
          <a:xfrm>
            <a:off x="5257799" y="3154680"/>
            <a:ext cx="2423160" cy="960120"/>
          </a:xfrm>
          <a:prstGeom prst="rect">
            <a:avLst/>
          </a:prstGeom>
          <a:noFill/>
        </p:spPr>
        <p:txBody>
          <a:bodyPr wrap="square" lIns="0" rIns="0" tIns="0" bIns="0" anchor="ctr">
            <a:spAutoFit/>
          </a:bodyPr>
          <a:lstStyle/>
          <a:p>
            <a:pPr algn="l"/>
            <a:r>
              <a:rPr sz="1800" b="1">
                <a:solidFill>
                  <a:srgbClr val="0B3B30"/>
                </a:solidFill>
                <a:latin typeface="Calibri"/>
              </a:rPr>
              <a:t>Stijgt het verzuim met de grootte?</a:t>
            </a:r>
          </a:p>
        </p:txBody>
      </p:sp>
      <p:sp>
        <p:nvSpPr>
          <p:cNvPr id="13" name="sub-question 3"/>
          <p:cNvSpPr/>
          <p:nvPr/>
        </p:nvSpPr>
        <p:spPr>
          <a:xfrm>
            <a:off x="8046719" y="2971800"/>
            <a:ext cx="3520440" cy="1325880"/>
          </a:xfrm>
          <a:prstGeom prst="roundRect">
            <a:avLst>
              <a:gd name="adj" fmla="val 8000"/>
            </a:avLst>
          </a:prstGeom>
          <a:solidFill>
            <a:srgbClr val="E8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dge 3"/>
          <p:cNvSpPr/>
          <p:nvPr/>
        </p:nvSpPr>
        <p:spPr>
          <a:xfrm>
            <a:off x="8321040" y="3383280"/>
            <a:ext cx="502920" cy="502920"/>
          </a:xfrm>
          <a:prstGeom prst="ellipse">
            <a:avLst/>
          </a:prstGeom>
          <a:solidFill>
            <a:srgbClr val="0C80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5" name="sub-question text 3"/>
          <p:cNvSpPr txBox="1"/>
          <p:nvPr/>
        </p:nvSpPr>
        <p:spPr>
          <a:xfrm>
            <a:off x="9006840" y="3154680"/>
            <a:ext cx="2423160" cy="960120"/>
          </a:xfrm>
          <a:prstGeom prst="rect">
            <a:avLst/>
          </a:prstGeom>
          <a:noFill/>
        </p:spPr>
        <p:txBody>
          <a:bodyPr wrap="square" lIns="0" rIns="0" tIns="0" bIns="0" anchor="ctr">
            <a:spAutoFit/>
          </a:bodyPr>
          <a:lstStyle/>
          <a:p>
            <a:pPr algn="l"/>
            <a:r>
              <a:rPr sz="1800" b="1">
                <a:solidFill>
                  <a:srgbClr val="0B3B30"/>
                </a:solidFill>
                <a:latin typeface="Calibri"/>
              </a:rPr>
              <a:t>Stabiel of stijgend?</a:t>
            </a:r>
          </a:p>
        </p:txBody>
      </p:sp>
      <p:sp>
        <p:nvSpPr>
          <p:cNvPr id="16" name="sub-question 4"/>
          <p:cNvSpPr/>
          <p:nvPr/>
        </p:nvSpPr>
        <p:spPr>
          <a:xfrm>
            <a:off x="548640" y="4526280"/>
            <a:ext cx="3520440" cy="1325880"/>
          </a:xfrm>
          <a:prstGeom prst="roundRect">
            <a:avLst>
              <a:gd name="adj" fmla="val 8000"/>
            </a:avLst>
          </a:prstGeom>
          <a:solidFill>
            <a:srgbClr val="E8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dge 4"/>
          <p:cNvSpPr/>
          <p:nvPr/>
        </p:nvSpPr>
        <p:spPr>
          <a:xfrm>
            <a:off x="822959" y="4937760"/>
            <a:ext cx="502920" cy="502920"/>
          </a:xfrm>
          <a:prstGeom prst="ellipse">
            <a:avLst/>
          </a:prstGeom>
          <a:solidFill>
            <a:srgbClr val="0C80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4</a:t>
            </a:r>
          </a:p>
        </p:txBody>
      </p:sp>
      <p:sp>
        <p:nvSpPr>
          <p:cNvPr id="18" name="sub-question text 4"/>
          <p:cNvSpPr txBox="1"/>
          <p:nvPr/>
        </p:nvSpPr>
        <p:spPr>
          <a:xfrm>
            <a:off x="1508760" y="4709160"/>
            <a:ext cx="2423160" cy="960120"/>
          </a:xfrm>
          <a:prstGeom prst="rect">
            <a:avLst/>
          </a:prstGeom>
          <a:noFill/>
        </p:spPr>
        <p:txBody>
          <a:bodyPr wrap="square" lIns="0" rIns="0" tIns="0" bIns="0" anchor="ctr">
            <a:spAutoFit/>
          </a:bodyPr>
          <a:lstStyle/>
          <a:p>
            <a:pPr algn="l"/>
            <a:r>
              <a:rPr sz="1800" b="1">
                <a:solidFill>
                  <a:srgbClr val="0B3B30"/>
                </a:solidFill>
                <a:latin typeface="Calibri"/>
              </a:rPr>
              <a:t>Wat zit erachter?</a:t>
            </a:r>
          </a:p>
        </p:txBody>
      </p:sp>
      <p:sp>
        <p:nvSpPr>
          <p:cNvPr id="19" name="sub-question 5"/>
          <p:cNvSpPr/>
          <p:nvPr/>
        </p:nvSpPr>
        <p:spPr>
          <a:xfrm>
            <a:off x="4297679" y="4526280"/>
            <a:ext cx="3520440" cy="1325880"/>
          </a:xfrm>
          <a:prstGeom prst="roundRect">
            <a:avLst>
              <a:gd name="adj" fmla="val 8000"/>
            </a:avLst>
          </a:prstGeom>
          <a:solidFill>
            <a:srgbClr val="E8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dge 5"/>
          <p:cNvSpPr/>
          <p:nvPr/>
        </p:nvSpPr>
        <p:spPr>
          <a:xfrm>
            <a:off x="4571999" y="4937760"/>
            <a:ext cx="502920" cy="502920"/>
          </a:xfrm>
          <a:prstGeom prst="ellipse">
            <a:avLst/>
          </a:prstGeom>
          <a:solidFill>
            <a:srgbClr val="0C80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5</a:t>
            </a:r>
          </a:p>
        </p:txBody>
      </p:sp>
      <p:sp>
        <p:nvSpPr>
          <p:cNvPr id="21" name="sub-question text 5"/>
          <p:cNvSpPr txBox="1"/>
          <p:nvPr/>
        </p:nvSpPr>
        <p:spPr>
          <a:xfrm>
            <a:off x="5257799" y="4709160"/>
            <a:ext cx="2423160" cy="960120"/>
          </a:xfrm>
          <a:prstGeom prst="rect">
            <a:avLst/>
          </a:prstGeom>
          <a:noFill/>
        </p:spPr>
        <p:txBody>
          <a:bodyPr wrap="square" lIns="0" rIns="0" tIns="0" bIns="0" anchor="ctr">
            <a:spAutoFit/>
          </a:bodyPr>
          <a:lstStyle/>
          <a:p>
            <a:pPr algn="l"/>
            <a:r>
              <a:rPr sz="1800" b="1">
                <a:solidFill>
                  <a:srgbClr val="0B3B30"/>
                </a:solidFill>
                <a:latin typeface="Calibri"/>
              </a:rPr>
              <a:t>Echt verschil of toeval?</a:t>
            </a:r>
          </a:p>
        </p:txBody>
      </p:sp>
      <p:sp>
        <p:nvSpPr>
          <p:cNvPr id="22" name="sub-question 6"/>
          <p:cNvSpPr/>
          <p:nvPr/>
        </p:nvSpPr>
        <p:spPr>
          <a:xfrm>
            <a:off x="8046719" y="4526280"/>
            <a:ext cx="3520440" cy="1325880"/>
          </a:xfrm>
          <a:prstGeom prst="roundRect">
            <a:avLst>
              <a:gd name="adj" fmla="val 8000"/>
            </a:avLst>
          </a:prstGeom>
          <a:solidFill>
            <a:srgbClr val="E8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dge 6"/>
          <p:cNvSpPr/>
          <p:nvPr/>
        </p:nvSpPr>
        <p:spPr>
          <a:xfrm>
            <a:off x="8321040" y="4937760"/>
            <a:ext cx="502920" cy="502920"/>
          </a:xfrm>
          <a:prstGeom prst="ellipse">
            <a:avLst/>
          </a:prstGeom>
          <a:solidFill>
            <a:srgbClr val="0C80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6</a:t>
            </a:r>
          </a:p>
        </p:txBody>
      </p:sp>
      <p:sp>
        <p:nvSpPr>
          <p:cNvPr id="24" name="sub-question text 6"/>
          <p:cNvSpPr txBox="1"/>
          <p:nvPr/>
        </p:nvSpPr>
        <p:spPr>
          <a:xfrm>
            <a:off x="9006840" y="4709160"/>
            <a:ext cx="2423160" cy="960120"/>
          </a:xfrm>
          <a:prstGeom prst="rect">
            <a:avLst/>
          </a:prstGeom>
          <a:noFill/>
        </p:spPr>
        <p:txBody>
          <a:bodyPr wrap="square" lIns="0" rIns="0" tIns="0" bIns="0" anchor="ctr">
            <a:spAutoFit/>
          </a:bodyPr>
          <a:lstStyle/>
          <a:p>
            <a:pPr algn="l"/>
            <a:r>
              <a:rPr sz="1800" b="1">
                <a:solidFill>
                  <a:srgbClr val="0B3B30"/>
                </a:solidFill>
                <a:latin typeface="Calibri"/>
              </a:rPr>
              <a:t>Hoeveel bedrijven betreft het?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94415" cy="822960"/>
          </a:xfrm>
          <a:prstGeom prst="rect">
            <a:avLst/>
          </a:prstGeom>
          <a:noFill/>
        </p:spPr>
        <p:txBody>
          <a:bodyPr wrap="square" lIns="0" rIns="0" tIns="0" bIns="0" anchor="ctr">
            <a:spAutoFit/>
          </a:bodyPr>
          <a:lstStyle/>
          <a:p>
            <a:pPr algn="l"/>
            <a:r>
              <a:rPr sz="3600" b="1">
                <a:solidFill>
                  <a:srgbClr val="0B3B30"/>
                </a:solidFill>
                <a:latin typeface="Calibri"/>
              </a:rPr>
              <a:t>De aanpak</a:t>
            </a:r>
          </a:p>
        </p:txBody>
      </p:sp>
      <p:sp>
        <p:nvSpPr>
          <p:cNvPr id="3" name="footer"/>
          <p:cNvSpPr txBox="1"/>
          <p:nvPr/>
        </p:nvSpPr>
        <p:spPr>
          <a:xfrm>
            <a:off x="548640" y="6400800"/>
            <a:ext cx="7315200" cy="274320"/>
          </a:xfrm>
          <a:prstGeom prst="rect">
            <a:avLst/>
          </a:prstGeom>
          <a:noFill/>
        </p:spPr>
        <p:txBody>
          <a:bodyPr wrap="square" lIns="0" rIns="0" tIns="0" bIns="0" anchor="t">
            <a:spAutoFit/>
          </a:bodyPr>
          <a:lstStyle/>
          <a:p>
            <a:pPr algn="l"/>
            <a:r>
              <a:rPr sz="1000" b="0">
                <a:solidFill>
                  <a:srgbClr val="5F6B66"/>
                </a:solidFill>
                <a:latin typeface="Calibri"/>
              </a:rPr>
              <a:t>Verzuimrisico per sector en bedrijfsgrootte  ·  Data and AI Engineering</a:t>
            </a:r>
          </a:p>
        </p:txBody>
      </p:sp>
      <p:sp>
        <p:nvSpPr>
          <p:cNvPr id="4" name="slide number"/>
          <p:cNvSpPr txBox="1"/>
          <p:nvPr/>
        </p:nvSpPr>
        <p:spPr>
          <a:xfrm>
            <a:off x="10728655" y="6400800"/>
            <a:ext cx="914400" cy="274320"/>
          </a:xfrm>
          <a:prstGeom prst="rect">
            <a:avLst/>
          </a:prstGeom>
          <a:noFill/>
        </p:spPr>
        <p:txBody>
          <a:bodyPr wrap="square" lIns="0" rIns="0" tIns="0" bIns="0" anchor="t">
            <a:spAutoFit/>
          </a:bodyPr>
          <a:lstStyle/>
          <a:p>
            <a:pPr algn="r"/>
            <a:r>
              <a:rPr sz="1000" b="0">
                <a:solidFill>
                  <a:srgbClr val="5F6B66"/>
                </a:solidFill>
                <a:latin typeface="Calibri"/>
              </a:rPr>
              <a:t>4</a:t>
            </a:r>
          </a:p>
        </p:txBody>
      </p:sp>
      <p:pic>
        <p:nvPicPr>
          <p:cNvPr id="5" name="canvas" descr="canvas.png"/>
          <p:cNvPicPr>
            <a:picLocks noChangeAspect="1"/>
          </p:cNvPicPr>
          <p:nvPr/>
        </p:nvPicPr>
        <p:blipFill>
          <a:blip r:embed="rId2"/>
          <a:stretch>
            <a:fillRect/>
          </a:stretch>
        </p:blipFill>
        <p:spPr>
          <a:xfrm>
            <a:off x="548640" y="1280160"/>
            <a:ext cx="5559005" cy="5074920"/>
          </a:xfrm>
          <a:prstGeom prst="rect">
            <a:avLst/>
          </a:prstGeom>
        </p:spPr>
      </p:pic>
      <p:sp>
        <p:nvSpPr>
          <p:cNvPr id="6" name="badge 1"/>
          <p:cNvSpPr/>
          <p:nvPr/>
        </p:nvSpPr>
        <p:spPr>
          <a:xfrm>
            <a:off x="6564845" y="1508760"/>
            <a:ext cx="502920" cy="502920"/>
          </a:xfrm>
          <a:prstGeom prst="ellipse">
            <a:avLst/>
          </a:prstGeom>
          <a:solidFill>
            <a:srgbClr val="0C80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7" name="approach Automatisch"/>
          <p:cNvSpPr txBox="1"/>
          <p:nvPr/>
        </p:nvSpPr>
        <p:spPr>
          <a:xfrm>
            <a:off x="7296365" y="1463040"/>
            <a:ext cx="4346689" cy="1371600"/>
          </a:xfrm>
          <a:prstGeom prst="rect">
            <a:avLst/>
          </a:prstGeom>
          <a:noFill/>
        </p:spPr>
        <p:txBody>
          <a:bodyPr wrap="square" lIns="0" rIns="0" tIns="0" bIns="0" anchor="t">
            <a:spAutoFit/>
          </a:bodyPr>
          <a:lstStyle/>
          <a:p>
            <a:pPr algn="l">
              <a:spcAft>
                <a:spcPts val="200"/>
              </a:spcAft>
            </a:pPr>
            <a:r>
              <a:rPr sz="2000" b="1">
                <a:solidFill>
                  <a:srgbClr val="0B3B30"/>
                </a:solidFill>
                <a:latin typeface="Calibri"/>
              </a:rPr>
              <a:t>Automatisch</a:t>
            </a:r>
          </a:p>
          <a:p>
            <a:pPr algn="l">
              <a:spcAft>
                <a:spcPts val="200"/>
              </a:spcAft>
            </a:pPr>
            <a:r>
              <a:rPr sz="1500" b="0">
                <a:solidFill>
                  <a:srgbClr val="1A1A1A"/>
                </a:solidFill>
                <a:latin typeface="Calibri"/>
              </a:rPr>
              <a:t>Maandelijks ophalen, alleen wat nieuw is; Dagster bouwt silver en gold daarna</a:t>
            </a:r>
          </a:p>
        </p:txBody>
      </p:sp>
      <p:sp>
        <p:nvSpPr>
          <p:cNvPr id="8" name="badge 2"/>
          <p:cNvSpPr/>
          <p:nvPr/>
        </p:nvSpPr>
        <p:spPr>
          <a:xfrm>
            <a:off x="6564845" y="3108960"/>
            <a:ext cx="502920" cy="502920"/>
          </a:xfrm>
          <a:prstGeom prst="ellipse">
            <a:avLst/>
          </a:prstGeom>
          <a:solidFill>
            <a:srgbClr val="0C80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9" name="approach Gecontroleerd"/>
          <p:cNvSpPr txBox="1"/>
          <p:nvPr/>
        </p:nvSpPr>
        <p:spPr>
          <a:xfrm>
            <a:off x="7296365" y="3063240"/>
            <a:ext cx="4346689" cy="1371600"/>
          </a:xfrm>
          <a:prstGeom prst="rect">
            <a:avLst/>
          </a:prstGeom>
          <a:noFill/>
        </p:spPr>
        <p:txBody>
          <a:bodyPr wrap="square" lIns="0" rIns="0" tIns="0" bIns="0" anchor="t">
            <a:spAutoFit/>
          </a:bodyPr>
          <a:lstStyle/>
          <a:p>
            <a:pPr algn="l">
              <a:spcAft>
                <a:spcPts val="200"/>
              </a:spcAft>
            </a:pPr>
            <a:r>
              <a:rPr sz="2000" b="1">
                <a:solidFill>
                  <a:srgbClr val="0B3B30"/>
                </a:solidFill>
                <a:latin typeface="Calibri"/>
              </a:rPr>
              <a:t>Gecontroleerd</a:t>
            </a:r>
          </a:p>
          <a:p>
            <a:pPr algn="l">
              <a:spcAft>
                <a:spcPts val="200"/>
              </a:spcAft>
            </a:pPr>
            <a:r>
              <a:rPr sz="1500" b="0">
                <a:solidFill>
                  <a:srgbClr val="1A1A1A"/>
                </a:solidFill>
                <a:latin typeface="Calibri"/>
              </a:rPr>
              <a:t>Elke batch vóór het wegschrijven, elke laag vóór de volgende; fouten in quarantaine</a:t>
            </a:r>
          </a:p>
        </p:txBody>
      </p:sp>
      <p:sp>
        <p:nvSpPr>
          <p:cNvPr id="10" name="badge 3"/>
          <p:cNvSpPr/>
          <p:nvPr/>
        </p:nvSpPr>
        <p:spPr>
          <a:xfrm>
            <a:off x="6564845" y="4709159"/>
            <a:ext cx="502920" cy="502920"/>
          </a:xfrm>
          <a:prstGeom prst="ellipse">
            <a:avLst/>
          </a:prstGeom>
          <a:solidFill>
            <a:srgbClr val="0C80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1" name="approach Herleidbaar"/>
          <p:cNvSpPr txBox="1"/>
          <p:nvPr/>
        </p:nvSpPr>
        <p:spPr>
          <a:xfrm>
            <a:off x="7296365" y="4663440"/>
            <a:ext cx="4346689" cy="1371600"/>
          </a:xfrm>
          <a:prstGeom prst="rect">
            <a:avLst/>
          </a:prstGeom>
          <a:noFill/>
        </p:spPr>
        <p:txBody>
          <a:bodyPr wrap="square" lIns="0" rIns="0" tIns="0" bIns="0" anchor="t">
            <a:spAutoFit/>
          </a:bodyPr>
          <a:lstStyle/>
          <a:p>
            <a:pPr algn="l">
              <a:spcAft>
                <a:spcPts val="200"/>
              </a:spcAft>
            </a:pPr>
            <a:r>
              <a:rPr sz="2000" b="1">
                <a:solidFill>
                  <a:srgbClr val="0B3B30"/>
                </a:solidFill>
                <a:latin typeface="Calibri"/>
              </a:rPr>
              <a:t>Herleidbaar</a:t>
            </a:r>
          </a:p>
          <a:p>
            <a:pPr algn="l">
              <a:spcAft>
                <a:spcPts val="200"/>
              </a:spcAft>
            </a:pPr>
            <a:r>
              <a:rPr sz="1500" b="0">
                <a:solidFill>
                  <a:srgbClr val="1A1A1A"/>
                </a:solidFill>
                <a:latin typeface="Calibri"/>
              </a:rPr>
              <a:t>Elk getal terug te volgen naar het bronveld; elke run in een runlog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94415" cy="822960"/>
          </a:xfrm>
          <a:prstGeom prst="rect">
            <a:avLst/>
          </a:prstGeom>
          <a:noFill/>
        </p:spPr>
        <p:txBody>
          <a:bodyPr wrap="square" lIns="0" rIns="0" tIns="0" bIns="0" anchor="ctr">
            <a:spAutoFit/>
          </a:bodyPr>
          <a:lstStyle/>
          <a:p>
            <a:pPr algn="l"/>
            <a:r>
              <a:rPr sz="3600" b="1">
                <a:solidFill>
                  <a:srgbClr val="0B3B30"/>
                </a:solidFill>
                <a:latin typeface="Calibri"/>
              </a:rPr>
              <a:t>Keuzes die ertoe doen</a:t>
            </a:r>
          </a:p>
        </p:txBody>
      </p:sp>
      <p:sp>
        <p:nvSpPr>
          <p:cNvPr id="3" name="footer"/>
          <p:cNvSpPr txBox="1"/>
          <p:nvPr/>
        </p:nvSpPr>
        <p:spPr>
          <a:xfrm>
            <a:off x="548640" y="6400800"/>
            <a:ext cx="7315200" cy="274320"/>
          </a:xfrm>
          <a:prstGeom prst="rect">
            <a:avLst/>
          </a:prstGeom>
          <a:noFill/>
        </p:spPr>
        <p:txBody>
          <a:bodyPr wrap="square" lIns="0" rIns="0" tIns="0" bIns="0" anchor="t">
            <a:spAutoFit/>
          </a:bodyPr>
          <a:lstStyle/>
          <a:p>
            <a:pPr algn="l"/>
            <a:r>
              <a:rPr sz="1000" b="0">
                <a:solidFill>
                  <a:srgbClr val="5F6B66"/>
                </a:solidFill>
                <a:latin typeface="Calibri"/>
              </a:rPr>
              <a:t>Verzuimrisico per sector en bedrijfsgrootte  ·  Data and AI Engineering</a:t>
            </a:r>
          </a:p>
        </p:txBody>
      </p:sp>
      <p:sp>
        <p:nvSpPr>
          <p:cNvPr id="4" name="slide number"/>
          <p:cNvSpPr txBox="1"/>
          <p:nvPr/>
        </p:nvSpPr>
        <p:spPr>
          <a:xfrm>
            <a:off x="10728655" y="6400800"/>
            <a:ext cx="914400" cy="274320"/>
          </a:xfrm>
          <a:prstGeom prst="rect">
            <a:avLst/>
          </a:prstGeom>
          <a:noFill/>
        </p:spPr>
        <p:txBody>
          <a:bodyPr wrap="square" lIns="0" rIns="0" tIns="0" bIns="0" anchor="t">
            <a:spAutoFit/>
          </a:bodyPr>
          <a:lstStyle/>
          <a:p>
            <a:pPr algn="r"/>
            <a:r>
              <a:rPr sz="1000" b="0">
                <a:solidFill>
                  <a:srgbClr val="5F6B66"/>
                </a:solidFill>
                <a:latin typeface="Calibri"/>
              </a:rPr>
              <a:t>5</a:t>
            </a:r>
          </a:p>
        </p:txBody>
      </p:sp>
      <p:sp>
        <p:nvSpPr>
          <p:cNvPr id="5" name="choice 1"/>
          <p:cNvSpPr/>
          <p:nvPr/>
        </p:nvSpPr>
        <p:spPr>
          <a:xfrm>
            <a:off x="548640" y="1463040"/>
            <a:ext cx="5394960" cy="2103120"/>
          </a:xfrm>
          <a:prstGeom prst="roundRect">
            <a:avLst>
              <a:gd name="adj" fmla="val 8000"/>
            </a:avLst>
          </a:prstGeom>
          <a:solidFill>
            <a:srgbClr val="E8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adge 1"/>
          <p:cNvSpPr/>
          <p:nvPr/>
        </p:nvSpPr>
        <p:spPr>
          <a:xfrm>
            <a:off x="868680" y="1783080"/>
            <a:ext cx="502920" cy="502920"/>
          </a:xfrm>
          <a:prstGeom prst="ellipse">
            <a:avLst/>
          </a:prstGeom>
          <a:solidFill>
            <a:srgbClr val="0C80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7" name="choice text 1"/>
          <p:cNvSpPr txBox="1"/>
          <p:nvPr/>
        </p:nvSpPr>
        <p:spPr>
          <a:xfrm>
            <a:off x="1600200" y="1783080"/>
            <a:ext cx="4069080" cy="1554480"/>
          </a:xfrm>
          <a:prstGeom prst="rect">
            <a:avLst/>
          </a:prstGeom>
          <a:noFill/>
        </p:spPr>
        <p:txBody>
          <a:bodyPr wrap="square" lIns="0" rIns="0" tIns="0" bIns="0" anchor="t">
            <a:spAutoFit/>
          </a:bodyPr>
          <a:lstStyle/>
          <a:p>
            <a:pPr algn="l">
              <a:spcAft>
                <a:spcPts val="600"/>
              </a:spcAft>
            </a:pPr>
            <a:r>
              <a:rPr sz="2100" b="1">
                <a:solidFill>
                  <a:srgbClr val="0B3B30"/>
                </a:solidFill>
                <a:latin typeface="Calibri"/>
              </a:rPr>
              <a:t>Delta Lake, geen Spark</a:t>
            </a:r>
          </a:p>
          <a:p>
            <a:pPr algn="l">
              <a:spcAft>
                <a:spcPts val="600"/>
              </a:spcAft>
            </a:pPr>
            <a:r>
              <a:rPr sz="1600" b="0">
                <a:solidFill>
                  <a:srgbClr val="1A1A1A"/>
                </a:solidFill>
                <a:latin typeface="Calibri"/>
              </a:rPr>
              <a:t>120 MB past op één machine; Spark zou alleen opstarttijd en geheugen kosten</a:t>
            </a:r>
          </a:p>
        </p:txBody>
      </p:sp>
      <p:sp>
        <p:nvSpPr>
          <p:cNvPr id="8" name="choice 2"/>
          <p:cNvSpPr/>
          <p:nvPr/>
        </p:nvSpPr>
        <p:spPr>
          <a:xfrm>
            <a:off x="6172200" y="1463040"/>
            <a:ext cx="5394960" cy="2103120"/>
          </a:xfrm>
          <a:prstGeom prst="roundRect">
            <a:avLst>
              <a:gd name="adj" fmla="val 8000"/>
            </a:avLst>
          </a:prstGeom>
          <a:solidFill>
            <a:srgbClr val="E8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dge 2"/>
          <p:cNvSpPr/>
          <p:nvPr/>
        </p:nvSpPr>
        <p:spPr>
          <a:xfrm>
            <a:off x="6492240" y="1783080"/>
            <a:ext cx="502920" cy="502920"/>
          </a:xfrm>
          <a:prstGeom prst="ellipse">
            <a:avLst/>
          </a:prstGeom>
          <a:solidFill>
            <a:srgbClr val="0C80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10" name="choice text 2"/>
          <p:cNvSpPr txBox="1"/>
          <p:nvPr/>
        </p:nvSpPr>
        <p:spPr>
          <a:xfrm>
            <a:off x="7223760" y="1783080"/>
            <a:ext cx="4069080" cy="1554480"/>
          </a:xfrm>
          <a:prstGeom prst="rect">
            <a:avLst/>
          </a:prstGeom>
          <a:noFill/>
        </p:spPr>
        <p:txBody>
          <a:bodyPr wrap="square" lIns="0" rIns="0" tIns="0" bIns="0" anchor="t">
            <a:spAutoFit/>
          </a:bodyPr>
          <a:lstStyle/>
          <a:p>
            <a:pPr algn="l">
              <a:spcAft>
                <a:spcPts val="600"/>
              </a:spcAft>
            </a:pPr>
            <a:r>
              <a:rPr sz="2100" b="1">
                <a:solidFill>
                  <a:srgbClr val="0B3B30"/>
                </a:solidFill>
                <a:latin typeface="Calibri"/>
              </a:rPr>
              <a:t>White box, geen machine learning</a:t>
            </a:r>
          </a:p>
          <a:p>
            <a:pPr algn="l">
              <a:spcAft>
                <a:spcPts val="600"/>
              </a:spcAft>
            </a:pPr>
            <a:r>
              <a:rPr sz="1600" b="0">
                <a:solidFill>
                  <a:srgbClr val="1A1A1A"/>
                </a:solidFill>
                <a:latin typeface="Calibri"/>
              </a:rPr>
              <a:t>Een beschrijvende vraag, 26 kwartalen, en elk getal moet uitlegbaar zijn</a:t>
            </a:r>
          </a:p>
        </p:txBody>
      </p:sp>
      <p:sp>
        <p:nvSpPr>
          <p:cNvPr id="11" name="choice 3"/>
          <p:cNvSpPr/>
          <p:nvPr/>
        </p:nvSpPr>
        <p:spPr>
          <a:xfrm>
            <a:off x="548640" y="3840480"/>
            <a:ext cx="5394960" cy="2103120"/>
          </a:xfrm>
          <a:prstGeom prst="roundRect">
            <a:avLst>
              <a:gd name="adj" fmla="val 8000"/>
            </a:avLst>
          </a:prstGeom>
          <a:solidFill>
            <a:srgbClr val="E8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dge 3"/>
          <p:cNvSpPr/>
          <p:nvPr/>
        </p:nvSpPr>
        <p:spPr>
          <a:xfrm>
            <a:off x="868680" y="4160520"/>
            <a:ext cx="502920" cy="502920"/>
          </a:xfrm>
          <a:prstGeom prst="ellipse">
            <a:avLst/>
          </a:prstGeom>
          <a:solidFill>
            <a:srgbClr val="0C80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13" name="choice text 3"/>
          <p:cNvSpPr txBox="1"/>
          <p:nvPr/>
        </p:nvSpPr>
        <p:spPr>
          <a:xfrm>
            <a:off x="1600200" y="4160520"/>
            <a:ext cx="4069080" cy="1554480"/>
          </a:xfrm>
          <a:prstGeom prst="rect">
            <a:avLst/>
          </a:prstGeom>
          <a:noFill/>
        </p:spPr>
        <p:txBody>
          <a:bodyPr wrap="square" lIns="0" rIns="0" tIns="0" bIns="0" anchor="t">
            <a:spAutoFit/>
          </a:bodyPr>
          <a:lstStyle/>
          <a:p>
            <a:pPr algn="l">
              <a:spcAft>
                <a:spcPts val="600"/>
              </a:spcAft>
            </a:pPr>
            <a:r>
              <a:rPr sz="2100" b="1">
                <a:solidFill>
                  <a:srgbClr val="0B3B30"/>
                </a:solidFill>
                <a:latin typeface="Calibri"/>
              </a:rPr>
              <a:t>Markeren, niet gokken</a:t>
            </a:r>
          </a:p>
          <a:p>
            <a:pPr algn="l">
              <a:spcAft>
                <a:spcPts val="600"/>
              </a:spcAft>
            </a:pPr>
            <a:r>
              <a:rPr sz="1600" b="0">
                <a:solidFill>
                  <a:srgbClr val="1A1A1A"/>
                </a:solidFill>
                <a:latin typeface="Calibri"/>
              </a:rPr>
              <a:t>Twijfelgevallen krijgen een vlag; de originele waarde blijft staan</a:t>
            </a:r>
          </a:p>
        </p:txBody>
      </p:sp>
      <p:sp>
        <p:nvSpPr>
          <p:cNvPr id="14" name="choice 4"/>
          <p:cNvSpPr/>
          <p:nvPr/>
        </p:nvSpPr>
        <p:spPr>
          <a:xfrm>
            <a:off x="6172200" y="3840480"/>
            <a:ext cx="5394960" cy="2103120"/>
          </a:xfrm>
          <a:prstGeom prst="roundRect">
            <a:avLst>
              <a:gd name="adj" fmla="val 8000"/>
            </a:avLst>
          </a:prstGeom>
          <a:solidFill>
            <a:srgbClr val="E8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dge 4"/>
          <p:cNvSpPr/>
          <p:nvPr/>
        </p:nvSpPr>
        <p:spPr>
          <a:xfrm>
            <a:off x="6492240" y="4160520"/>
            <a:ext cx="502920" cy="502920"/>
          </a:xfrm>
          <a:prstGeom prst="ellipse">
            <a:avLst/>
          </a:prstGeom>
          <a:solidFill>
            <a:srgbClr val="0C80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4</a:t>
            </a:r>
          </a:p>
        </p:txBody>
      </p:sp>
      <p:sp>
        <p:nvSpPr>
          <p:cNvPr id="16" name="choice text 4"/>
          <p:cNvSpPr txBox="1"/>
          <p:nvPr/>
        </p:nvSpPr>
        <p:spPr>
          <a:xfrm>
            <a:off x="7223760" y="4160520"/>
            <a:ext cx="4069080" cy="1554480"/>
          </a:xfrm>
          <a:prstGeom prst="rect">
            <a:avLst/>
          </a:prstGeom>
          <a:noFill/>
        </p:spPr>
        <p:txBody>
          <a:bodyPr wrap="square" lIns="0" rIns="0" tIns="0" bIns="0" anchor="t">
            <a:spAutoFit/>
          </a:bodyPr>
          <a:lstStyle/>
          <a:p>
            <a:pPr algn="l">
              <a:spcAft>
                <a:spcPts val="600"/>
              </a:spcAft>
            </a:pPr>
            <a:r>
              <a:rPr sz="2100" b="1">
                <a:solidFill>
                  <a:srgbClr val="0B3B30"/>
                </a:solidFill>
                <a:latin typeface="Calibri"/>
              </a:rPr>
              <a:t>Incrementeel en meetbaar</a:t>
            </a:r>
          </a:p>
          <a:p>
            <a:pPr algn="l">
              <a:spcAft>
                <a:spcPts val="600"/>
              </a:spcAft>
            </a:pPr>
            <a:r>
              <a:rPr sz="1600" b="0">
                <a:solidFill>
                  <a:srgbClr val="1A1A1A"/>
                </a:solidFill>
                <a:latin typeface="Calibri"/>
              </a:rPr>
              <a:t>KVK groeit per maand; geheugen voor een herbouw van 3,2 naar 1,65 GB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94415" cy="822960"/>
          </a:xfrm>
          <a:prstGeom prst="rect">
            <a:avLst/>
          </a:prstGeom>
          <a:noFill/>
        </p:spPr>
        <p:txBody>
          <a:bodyPr wrap="square" lIns="0" rIns="0" tIns="0" bIns="0" anchor="ctr">
            <a:spAutoFit/>
          </a:bodyPr>
          <a:lstStyle/>
          <a:p>
            <a:pPr algn="l"/>
            <a:r>
              <a:rPr sz="3600" b="1">
                <a:solidFill>
                  <a:srgbClr val="0B3B30"/>
                </a:solidFill>
                <a:latin typeface="Calibri"/>
              </a:rPr>
              <a:t>Resultaat: waar zit het risico?</a:t>
            </a:r>
          </a:p>
        </p:txBody>
      </p:sp>
      <p:sp>
        <p:nvSpPr>
          <p:cNvPr id="3" name="footer"/>
          <p:cNvSpPr txBox="1"/>
          <p:nvPr/>
        </p:nvSpPr>
        <p:spPr>
          <a:xfrm>
            <a:off x="548640" y="6400800"/>
            <a:ext cx="7315200" cy="274320"/>
          </a:xfrm>
          <a:prstGeom prst="rect">
            <a:avLst/>
          </a:prstGeom>
          <a:noFill/>
        </p:spPr>
        <p:txBody>
          <a:bodyPr wrap="square" lIns="0" rIns="0" tIns="0" bIns="0" anchor="t">
            <a:spAutoFit/>
          </a:bodyPr>
          <a:lstStyle/>
          <a:p>
            <a:pPr algn="l"/>
            <a:r>
              <a:rPr sz="1000" b="0">
                <a:solidFill>
                  <a:srgbClr val="5F6B66"/>
                </a:solidFill>
                <a:latin typeface="Calibri"/>
              </a:rPr>
              <a:t>Verzuimrisico per sector en bedrijfsgrootte  ·  Data and AI Engineering</a:t>
            </a:r>
          </a:p>
        </p:txBody>
      </p:sp>
      <p:sp>
        <p:nvSpPr>
          <p:cNvPr id="4" name="slide number"/>
          <p:cNvSpPr txBox="1"/>
          <p:nvPr/>
        </p:nvSpPr>
        <p:spPr>
          <a:xfrm>
            <a:off x="10728655" y="6400800"/>
            <a:ext cx="914400" cy="274320"/>
          </a:xfrm>
          <a:prstGeom prst="rect">
            <a:avLst/>
          </a:prstGeom>
          <a:noFill/>
        </p:spPr>
        <p:txBody>
          <a:bodyPr wrap="square" lIns="0" rIns="0" tIns="0" bIns="0" anchor="t">
            <a:spAutoFit/>
          </a:bodyPr>
          <a:lstStyle/>
          <a:p>
            <a:pPr algn="r"/>
            <a:r>
              <a:rPr sz="1000" b="0">
                <a:solidFill>
                  <a:srgbClr val="5F6B66"/>
                </a:solidFill>
                <a:latin typeface="Calibri"/>
              </a:rPr>
              <a:t>6</a:t>
            </a:r>
          </a:p>
        </p:txBody>
      </p:sp>
      <p:graphicFrame>
        <p:nvGraphicFramePr>
          <p:cNvPr id="5" name="chart relative risk"/>
          <p:cNvGraphicFramePr>
            <a:graphicFrameLocks noGrp="1"/>
          </p:cNvGraphicFramePr>
          <p:nvPr/>
        </p:nvGraphicFramePr>
        <p:xfrm>
          <a:off x="548640" y="1325880"/>
          <a:ext cx="7223760" cy="4983480"/>
        </p:xfrm>
        <a:graphic>
          <a:graphicData uri="http://schemas.openxmlformats.org/drawingml/2006/chart">
            <c:chart xmlns:c="http://schemas.openxmlformats.org/drawingml/2006/chart" r:id="rId2"/>
          </a:graphicData>
        </a:graphic>
      </p:graphicFrame>
      <p:sp>
        <p:nvSpPr>
          <p:cNvPr id="6" name="stat 1"/>
          <p:cNvSpPr txBox="1"/>
          <p:nvPr/>
        </p:nvSpPr>
        <p:spPr>
          <a:xfrm>
            <a:off x="8183879" y="1417320"/>
            <a:ext cx="3474720" cy="685800"/>
          </a:xfrm>
          <a:prstGeom prst="rect">
            <a:avLst/>
          </a:prstGeom>
          <a:noFill/>
        </p:spPr>
        <p:txBody>
          <a:bodyPr wrap="square" lIns="0" rIns="0" tIns="0" bIns="0" anchor="t">
            <a:spAutoFit/>
          </a:bodyPr>
          <a:lstStyle/>
          <a:p>
            <a:pPr algn="l"/>
            <a:r>
              <a:rPr sz="4000" b="1">
                <a:solidFill>
                  <a:srgbClr val="C0392B"/>
                </a:solidFill>
                <a:latin typeface="Calibri"/>
              </a:rPr>
              <a:t>1,40</a:t>
            </a:r>
          </a:p>
        </p:txBody>
      </p:sp>
      <p:sp>
        <p:nvSpPr>
          <p:cNvPr id="7" name="stat label 1"/>
          <p:cNvSpPr txBox="1"/>
          <p:nvPr/>
        </p:nvSpPr>
        <p:spPr>
          <a:xfrm>
            <a:off x="8183879" y="2130552"/>
            <a:ext cx="3474720" cy="640080"/>
          </a:xfrm>
          <a:prstGeom prst="rect">
            <a:avLst/>
          </a:prstGeom>
          <a:noFill/>
        </p:spPr>
        <p:txBody>
          <a:bodyPr wrap="square" lIns="0" rIns="0" tIns="0" bIns="0" anchor="t">
            <a:spAutoFit/>
          </a:bodyPr>
          <a:lstStyle/>
          <a:p>
            <a:pPr algn="l"/>
            <a:r>
              <a:rPr sz="1400" b="0">
                <a:solidFill>
                  <a:srgbClr val="1A1A1A"/>
                </a:solidFill>
                <a:latin typeface="Calibri"/>
              </a:rPr>
              <a:t>Zorg en welzijn: 40% meer verzuim dan landelijk</a:t>
            </a:r>
          </a:p>
        </p:txBody>
      </p:sp>
      <p:sp>
        <p:nvSpPr>
          <p:cNvPr id="8" name="stat 2"/>
          <p:cNvSpPr txBox="1"/>
          <p:nvPr/>
        </p:nvSpPr>
        <p:spPr>
          <a:xfrm>
            <a:off x="8183879" y="2880360"/>
            <a:ext cx="3474720" cy="685800"/>
          </a:xfrm>
          <a:prstGeom prst="rect">
            <a:avLst/>
          </a:prstGeom>
          <a:noFill/>
        </p:spPr>
        <p:txBody>
          <a:bodyPr wrap="square" lIns="0" rIns="0" tIns="0" bIns="0" anchor="t">
            <a:spAutoFit/>
          </a:bodyPr>
          <a:lstStyle/>
          <a:p>
            <a:pPr algn="l"/>
            <a:r>
              <a:rPr sz="4000" b="1">
                <a:solidFill>
                  <a:srgbClr val="C0392B"/>
                </a:solidFill>
                <a:latin typeface="Calibri"/>
              </a:rPr>
              <a:t>5 van 19</a:t>
            </a:r>
          </a:p>
        </p:txBody>
      </p:sp>
      <p:sp>
        <p:nvSpPr>
          <p:cNvPr id="9" name="stat label 2"/>
          <p:cNvSpPr txBox="1"/>
          <p:nvPr/>
        </p:nvSpPr>
        <p:spPr>
          <a:xfrm>
            <a:off x="8183879" y="3593592"/>
            <a:ext cx="3474720" cy="640080"/>
          </a:xfrm>
          <a:prstGeom prst="rect">
            <a:avLst/>
          </a:prstGeom>
          <a:noFill/>
        </p:spPr>
        <p:txBody>
          <a:bodyPr wrap="square" lIns="0" rIns="0" tIns="0" bIns="0" anchor="t">
            <a:spAutoFit/>
          </a:bodyPr>
          <a:lstStyle/>
          <a:p>
            <a:pPr algn="l"/>
            <a:r>
              <a:rPr sz="1400" b="0">
                <a:solidFill>
                  <a:srgbClr val="1A1A1A"/>
                </a:solidFill>
                <a:latin typeface="Calibri"/>
              </a:rPr>
              <a:t>secties in álle acht kwartalen boven landelijk</a:t>
            </a:r>
          </a:p>
        </p:txBody>
      </p:sp>
      <p:sp>
        <p:nvSpPr>
          <p:cNvPr id="10" name="stat 3"/>
          <p:cNvSpPr txBox="1"/>
          <p:nvPr/>
        </p:nvSpPr>
        <p:spPr>
          <a:xfrm>
            <a:off x="8183879" y="4343400"/>
            <a:ext cx="3474720" cy="685800"/>
          </a:xfrm>
          <a:prstGeom prst="rect">
            <a:avLst/>
          </a:prstGeom>
          <a:noFill/>
        </p:spPr>
        <p:txBody>
          <a:bodyPr wrap="square" lIns="0" rIns="0" tIns="0" bIns="0" anchor="t">
            <a:spAutoFit/>
          </a:bodyPr>
          <a:lstStyle/>
          <a:p>
            <a:pPr algn="l"/>
            <a:r>
              <a:rPr sz="4000" b="1">
                <a:solidFill>
                  <a:srgbClr val="0C8066"/>
                </a:solidFill>
                <a:latin typeface="Calibri"/>
              </a:rPr>
              <a:t>0,61</a:t>
            </a:r>
          </a:p>
        </p:txBody>
      </p:sp>
      <p:sp>
        <p:nvSpPr>
          <p:cNvPr id="11" name="stat label 3"/>
          <p:cNvSpPr txBox="1"/>
          <p:nvPr/>
        </p:nvSpPr>
        <p:spPr>
          <a:xfrm>
            <a:off x="8183879" y="5056632"/>
            <a:ext cx="3474720" cy="640080"/>
          </a:xfrm>
          <a:prstGeom prst="rect">
            <a:avLst/>
          </a:prstGeom>
          <a:noFill/>
        </p:spPr>
        <p:txBody>
          <a:bodyPr wrap="square" lIns="0" rIns="0" tIns="0" bIns="0" anchor="t">
            <a:spAutoFit/>
          </a:bodyPr>
          <a:lstStyle/>
          <a:p>
            <a:pPr algn="l"/>
            <a:r>
              <a:rPr sz="1400" b="0">
                <a:solidFill>
                  <a:srgbClr val="1A1A1A"/>
                </a:solidFill>
                <a:latin typeface="Calibri"/>
              </a:rPr>
              <a:t>Horeca en landbouw: ruim een derde minder</a:t>
            </a:r>
          </a:p>
        </p:txBody>
      </p:sp>
      <p:sp>
        <p:nvSpPr>
          <p:cNvPr id="12" name="chart note"/>
          <p:cNvSpPr txBox="1"/>
          <p:nvPr/>
        </p:nvSpPr>
        <p:spPr>
          <a:xfrm>
            <a:off x="8183879" y="5806440"/>
            <a:ext cx="3474720" cy="457200"/>
          </a:xfrm>
          <a:prstGeom prst="rect">
            <a:avLst/>
          </a:prstGeom>
          <a:noFill/>
        </p:spPr>
        <p:txBody>
          <a:bodyPr wrap="square" lIns="0" rIns="0" tIns="0" bIns="0" anchor="t">
            <a:spAutoFit/>
          </a:bodyPr>
          <a:lstStyle/>
          <a:p>
            <a:pPr algn="l"/>
            <a:r>
              <a:rPr sz="1100" b="0">
                <a:solidFill>
                  <a:srgbClr val="5F6B66"/>
                </a:solidFill>
                <a:latin typeface="Calibri"/>
              </a:rPr>
              <a:t>Relatief risico, 4 kwartalen t/m 2026 Q2; 1,00 = landelijk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94415" cy="822960"/>
          </a:xfrm>
          <a:prstGeom prst="rect">
            <a:avLst/>
          </a:prstGeom>
          <a:noFill/>
        </p:spPr>
        <p:txBody>
          <a:bodyPr wrap="square" lIns="0" rIns="0" tIns="0" bIns="0" anchor="ctr">
            <a:spAutoFit/>
          </a:bodyPr>
          <a:lstStyle/>
          <a:p>
            <a:pPr algn="l"/>
            <a:r>
              <a:rPr sz="3600" b="1">
                <a:solidFill>
                  <a:srgbClr val="0B3B30"/>
                </a:solidFill>
                <a:latin typeface="Calibri"/>
              </a:rPr>
              <a:t>Wat zit erachter, en hoe zeker is het?</a:t>
            </a:r>
          </a:p>
        </p:txBody>
      </p:sp>
      <p:sp>
        <p:nvSpPr>
          <p:cNvPr id="3" name="footer"/>
          <p:cNvSpPr txBox="1"/>
          <p:nvPr/>
        </p:nvSpPr>
        <p:spPr>
          <a:xfrm>
            <a:off x="548640" y="6400800"/>
            <a:ext cx="7315200" cy="274320"/>
          </a:xfrm>
          <a:prstGeom prst="rect">
            <a:avLst/>
          </a:prstGeom>
          <a:noFill/>
        </p:spPr>
        <p:txBody>
          <a:bodyPr wrap="square" lIns="0" rIns="0" tIns="0" bIns="0" anchor="t">
            <a:spAutoFit/>
          </a:bodyPr>
          <a:lstStyle/>
          <a:p>
            <a:pPr algn="l"/>
            <a:r>
              <a:rPr sz="1000" b="0">
                <a:solidFill>
                  <a:srgbClr val="5F6B66"/>
                </a:solidFill>
                <a:latin typeface="Calibri"/>
              </a:rPr>
              <a:t>Verzuimrisico per sector en bedrijfsgrootte  ·  Data and AI Engineering</a:t>
            </a:r>
          </a:p>
        </p:txBody>
      </p:sp>
      <p:sp>
        <p:nvSpPr>
          <p:cNvPr id="4" name="slide number"/>
          <p:cNvSpPr txBox="1"/>
          <p:nvPr/>
        </p:nvSpPr>
        <p:spPr>
          <a:xfrm>
            <a:off x="10728655" y="6400800"/>
            <a:ext cx="914400" cy="274320"/>
          </a:xfrm>
          <a:prstGeom prst="rect">
            <a:avLst/>
          </a:prstGeom>
          <a:noFill/>
        </p:spPr>
        <p:txBody>
          <a:bodyPr wrap="square" lIns="0" rIns="0" tIns="0" bIns="0" anchor="t">
            <a:spAutoFit/>
          </a:bodyPr>
          <a:lstStyle/>
          <a:p>
            <a:pPr algn="r"/>
            <a:r>
              <a:rPr sz="1000" b="0">
                <a:solidFill>
                  <a:srgbClr val="5F6B66"/>
                </a:solidFill>
                <a:latin typeface="Calibri"/>
              </a:rPr>
              <a:t>7</a:t>
            </a:r>
          </a:p>
        </p:txBody>
      </p:sp>
      <p:sp>
        <p:nvSpPr>
          <p:cNvPr id="5" name="subtitle survey"/>
          <p:cNvSpPr txBox="1"/>
          <p:nvPr/>
        </p:nvSpPr>
        <p:spPr>
          <a:xfrm>
            <a:off x="548640" y="1325880"/>
            <a:ext cx="7315200" cy="411480"/>
          </a:xfrm>
          <a:prstGeom prst="rect">
            <a:avLst/>
          </a:prstGeom>
          <a:noFill/>
        </p:spPr>
        <p:txBody>
          <a:bodyPr wrap="square" lIns="0" rIns="0" tIns="0" bIns="0" anchor="t">
            <a:spAutoFit/>
          </a:bodyPr>
          <a:lstStyle/>
          <a:p>
            <a:pPr algn="l"/>
            <a:r>
              <a:rPr sz="1600" b="0">
                <a:solidFill>
                  <a:srgbClr val="5F6B66"/>
                </a:solidFill>
                <a:latin typeface="Calibri"/>
              </a:rPr>
              <a:t>Zorg en welzijn, jaarenquête 2025, tegenover landelijk</a:t>
            </a:r>
          </a:p>
        </p:txBody>
      </p:sp>
      <p:sp>
        <p:nvSpPr>
          <p:cNvPr id="6" name="survey stat 1"/>
          <p:cNvSpPr/>
          <p:nvPr/>
        </p:nvSpPr>
        <p:spPr>
          <a:xfrm>
            <a:off x="548640" y="1828800"/>
            <a:ext cx="3520440" cy="2331720"/>
          </a:xfrm>
          <a:prstGeom prst="roundRect">
            <a:avLst>
              <a:gd name="adj" fmla="val 8000"/>
            </a:avLst>
          </a:prstGeom>
          <a:solidFill>
            <a:srgbClr val="E8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urvey big 1"/>
          <p:cNvSpPr txBox="1"/>
          <p:nvPr/>
        </p:nvSpPr>
        <p:spPr>
          <a:xfrm>
            <a:off x="868680" y="2011680"/>
            <a:ext cx="2926080" cy="777240"/>
          </a:xfrm>
          <a:prstGeom prst="rect">
            <a:avLst/>
          </a:prstGeom>
          <a:noFill/>
        </p:spPr>
        <p:txBody>
          <a:bodyPr wrap="square" lIns="0" rIns="0" tIns="0" bIns="0" anchor="t">
            <a:spAutoFit/>
          </a:bodyPr>
          <a:lstStyle/>
          <a:p>
            <a:pPr algn="l"/>
            <a:r>
              <a:rPr sz="4400" b="1">
                <a:solidFill>
                  <a:srgbClr val="C0392B"/>
                </a:solidFill>
                <a:latin typeface="Calibri"/>
              </a:rPr>
              <a:t>54,3%</a:t>
            </a:r>
          </a:p>
        </p:txBody>
      </p:sp>
      <p:sp>
        <p:nvSpPr>
          <p:cNvPr id="8" name="survey label 1"/>
          <p:cNvSpPr txBox="1"/>
          <p:nvPr/>
        </p:nvSpPr>
        <p:spPr>
          <a:xfrm>
            <a:off x="868680" y="2834640"/>
            <a:ext cx="2926080" cy="685800"/>
          </a:xfrm>
          <a:prstGeom prst="rect">
            <a:avLst/>
          </a:prstGeom>
          <a:noFill/>
        </p:spPr>
        <p:txBody>
          <a:bodyPr wrap="square" lIns="0" rIns="0" tIns="0" bIns="0" anchor="t">
            <a:spAutoFit/>
          </a:bodyPr>
          <a:lstStyle/>
          <a:p>
            <a:pPr algn="l"/>
            <a:r>
              <a:rPr sz="1500" b="0">
                <a:solidFill>
                  <a:srgbClr val="1A1A1A"/>
                </a:solidFill>
                <a:latin typeface="Calibri"/>
              </a:rPr>
              <a:t>van de werknemers verzuimde</a:t>
            </a:r>
          </a:p>
        </p:txBody>
      </p:sp>
      <p:sp>
        <p:nvSpPr>
          <p:cNvPr id="9" name="survey national 1"/>
          <p:cNvSpPr txBox="1"/>
          <p:nvPr/>
        </p:nvSpPr>
        <p:spPr>
          <a:xfrm>
            <a:off x="868680" y="3749039"/>
            <a:ext cx="2926080" cy="320040"/>
          </a:xfrm>
          <a:prstGeom prst="rect">
            <a:avLst/>
          </a:prstGeom>
          <a:noFill/>
        </p:spPr>
        <p:txBody>
          <a:bodyPr wrap="square" lIns="0" rIns="0" tIns="0" bIns="0" anchor="t">
            <a:spAutoFit/>
          </a:bodyPr>
          <a:lstStyle/>
          <a:p>
            <a:pPr algn="l"/>
            <a:r>
              <a:rPr sz="1300" b="0">
                <a:solidFill>
                  <a:srgbClr val="5F6B66"/>
                </a:solidFill>
                <a:latin typeface="Calibri"/>
              </a:rPr>
              <a:t>landelijk 50,7%</a:t>
            </a:r>
          </a:p>
        </p:txBody>
      </p:sp>
      <p:sp>
        <p:nvSpPr>
          <p:cNvPr id="10" name="survey stat 2"/>
          <p:cNvSpPr/>
          <p:nvPr/>
        </p:nvSpPr>
        <p:spPr>
          <a:xfrm>
            <a:off x="4297679" y="1828800"/>
            <a:ext cx="3520440" cy="2331720"/>
          </a:xfrm>
          <a:prstGeom prst="roundRect">
            <a:avLst>
              <a:gd name="adj" fmla="val 8000"/>
            </a:avLst>
          </a:prstGeom>
          <a:solidFill>
            <a:srgbClr val="E8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urvey big 2"/>
          <p:cNvSpPr txBox="1"/>
          <p:nvPr/>
        </p:nvSpPr>
        <p:spPr>
          <a:xfrm>
            <a:off x="4617719" y="2011680"/>
            <a:ext cx="2926080" cy="777240"/>
          </a:xfrm>
          <a:prstGeom prst="rect">
            <a:avLst/>
          </a:prstGeom>
          <a:noFill/>
        </p:spPr>
        <p:txBody>
          <a:bodyPr wrap="square" lIns="0" rIns="0" tIns="0" bIns="0" anchor="t">
            <a:spAutoFit/>
          </a:bodyPr>
          <a:lstStyle/>
          <a:p>
            <a:pPr algn="l"/>
            <a:r>
              <a:rPr sz="4400" b="1">
                <a:solidFill>
                  <a:srgbClr val="C0392B"/>
                </a:solidFill>
                <a:latin typeface="Calibri"/>
              </a:rPr>
              <a:t>19,4</a:t>
            </a:r>
          </a:p>
        </p:txBody>
      </p:sp>
      <p:sp>
        <p:nvSpPr>
          <p:cNvPr id="12" name="survey label 2"/>
          <p:cNvSpPr txBox="1"/>
          <p:nvPr/>
        </p:nvSpPr>
        <p:spPr>
          <a:xfrm>
            <a:off x="4617719" y="2834640"/>
            <a:ext cx="2926080" cy="685800"/>
          </a:xfrm>
          <a:prstGeom prst="rect">
            <a:avLst/>
          </a:prstGeom>
          <a:noFill/>
        </p:spPr>
        <p:txBody>
          <a:bodyPr wrap="square" lIns="0" rIns="0" tIns="0" bIns="0" anchor="t">
            <a:spAutoFit/>
          </a:bodyPr>
          <a:lstStyle/>
          <a:p>
            <a:pPr algn="l"/>
            <a:r>
              <a:rPr sz="1500" b="0">
                <a:solidFill>
                  <a:srgbClr val="1A1A1A"/>
                </a:solidFill>
                <a:latin typeface="Calibri"/>
              </a:rPr>
              <a:t>verzuimdagen per werknemer die verzuimde</a:t>
            </a:r>
          </a:p>
        </p:txBody>
      </p:sp>
      <p:sp>
        <p:nvSpPr>
          <p:cNvPr id="13" name="survey national 2"/>
          <p:cNvSpPr txBox="1"/>
          <p:nvPr/>
        </p:nvSpPr>
        <p:spPr>
          <a:xfrm>
            <a:off x="4617719" y="3749039"/>
            <a:ext cx="2926080" cy="320040"/>
          </a:xfrm>
          <a:prstGeom prst="rect">
            <a:avLst/>
          </a:prstGeom>
          <a:noFill/>
        </p:spPr>
        <p:txBody>
          <a:bodyPr wrap="square" lIns="0" rIns="0" tIns="0" bIns="0" anchor="t">
            <a:spAutoFit/>
          </a:bodyPr>
          <a:lstStyle/>
          <a:p>
            <a:pPr algn="l"/>
            <a:r>
              <a:rPr sz="1300" b="0">
                <a:solidFill>
                  <a:srgbClr val="5F6B66"/>
                </a:solidFill>
                <a:latin typeface="Calibri"/>
              </a:rPr>
              <a:t>landelijk 17,3</a:t>
            </a:r>
          </a:p>
        </p:txBody>
      </p:sp>
      <p:sp>
        <p:nvSpPr>
          <p:cNvPr id="14" name="survey stat 3"/>
          <p:cNvSpPr/>
          <p:nvPr/>
        </p:nvSpPr>
        <p:spPr>
          <a:xfrm>
            <a:off x="8046719" y="1828800"/>
            <a:ext cx="3520440" cy="2331720"/>
          </a:xfrm>
          <a:prstGeom prst="roundRect">
            <a:avLst>
              <a:gd name="adj" fmla="val 8000"/>
            </a:avLst>
          </a:prstGeom>
          <a:solidFill>
            <a:srgbClr val="E8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urvey big 3"/>
          <p:cNvSpPr txBox="1"/>
          <p:nvPr/>
        </p:nvSpPr>
        <p:spPr>
          <a:xfrm>
            <a:off x="8366759" y="2011680"/>
            <a:ext cx="2926080" cy="777240"/>
          </a:xfrm>
          <a:prstGeom prst="rect">
            <a:avLst/>
          </a:prstGeom>
          <a:noFill/>
        </p:spPr>
        <p:txBody>
          <a:bodyPr wrap="square" lIns="0" rIns="0" tIns="0" bIns="0" anchor="t">
            <a:spAutoFit/>
          </a:bodyPr>
          <a:lstStyle/>
          <a:p>
            <a:pPr algn="l"/>
            <a:r>
              <a:rPr sz="4400" b="1">
                <a:solidFill>
                  <a:srgbClr val="C0392B"/>
                </a:solidFill>
                <a:latin typeface="Calibri"/>
              </a:rPr>
              <a:t>28,7%</a:t>
            </a:r>
          </a:p>
        </p:txBody>
      </p:sp>
      <p:sp>
        <p:nvSpPr>
          <p:cNvPr id="16" name="survey label 3"/>
          <p:cNvSpPr txBox="1"/>
          <p:nvPr/>
        </p:nvSpPr>
        <p:spPr>
          <a:xfrm>
            <a:off x="8366759" y="2834640"/>
            <a:ext cx="2926080" cy="685800"/>
          </a:xfrm>
          <a:prstGeom prst="rect">
            <a:avLst/>
          </a:prstGeom>
          <a:noFill/>
        </p:spPr>
        <p:txBody>
          <a:bodyPr wrap="square" lIns="0" rIns="0" tIns="0" bIns="0" anchor="t">
            <a:spAutoFit/>
          </a:bodyPr>
          <a:lstStyle/>
          <a:p>
            <a:pPr algn="l"/>
            <a:r>
              <a:rPr sz="1500" b="0">
                <a:solidFill>
                  <a:srgbClr val="1A1A1A"/>
                </a:solidFill>
                <a:latin typeface="Calibri"/>
              </a:rPr>
              <a:t>van het werkgerelateerde verzuim komt door besmetting op het werk</a:t>
            </a:r>
          </a:p>
        </p:txBody>
      </p:sp>
      <p:sp>
        <p:nvSpPr>
          <p:cNvPr id="17" name="survey national 3"/>
          <p:cNvSpPr txBox="1"/>
          <p:nvPr/>
        </p:nvSpPr>
        <p:spPr>
          <a:xfrm>
            <a:off x="8366759" y="3749039"/>
            <a:ext cx="2926080" cy="320040"/>
          </a:xfrm>
          <a:prstGeom prst="rect">
            <a:avLst/>
          </a:prstGeom>
          <a:noFill/>
        </p:spPr>
        <p:txBody>
          <a:bodyPr wrap="square" lIns="0" rIns="0" tIns="0" bIns="0" anchor="t">
            <a:spAutoFit/>
          </a:bodyPr>
          <a:lstStyle/>
          <a:p>
            <a:pPr algn="l"/>
            <a:r>
              <a:rPr sz="1300" b="0">
                <a:solidFill>
                  <a:srgbClr val="5F6B66"/>
                </a:solidFill>
                <a:latin typeface="Calibri"/>
              </a:rPr>
              <a:t>landelijk 14,0%</a:t>
            </a:r>
          </a:p>
        </p:txBody>
      </p:sp>
      <p:sp>
        <p:nvSpPr>
          <p:cNvPr id="18" name="size card"/>
          <p:cNvSpPr/>
          <p:nvPr/>
        </p:nvSpPr>
        <p:spPr>
          <a:xfrm>
            <a:off x="548640" y="4434840"/>
            <a:ext cx="5486400" cy="16916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dge ↗"/>
          <p:cNvSpPr/>
          <p:nvPr/>
        </p:nvSpPr>
        <p:spPr>
          <a:xfrm>
            <a:off x="777240" y="4663440"/>
            <a:ext cx="502920" cy="502920"/>
          </a:xfrm>
          <a:prstGeom prst="ellipse">
            <a:avLst/>
          </a:prstGeom>
          <a:solidFill>
            <a:srgbClr val="0B3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FFFFFF"/>
                </a:solidFill>
                <a:latin typeface="Calibri"/>
              </a:rPr>
              <a:t>↗</a:t>
            </a:r>
          </a:p>
        </p:txBody>
      </p:sp>
      <p:sp>
        <p:nvSpPr>
          <p:cNvPr id="20" name="size text"/>
          <p:cNvSpPr txBox="1"/>
          <p:nvPr/>
        </p:nvSpPr>
        <p:spPr>
          <a:xfrm>
            <a:off x="1508760" y="4617720"/>
            <a:ext cx="4389120" cy="1417320"/>
          </a:xfrm>
          <a:prstGeom prst="rect">
            <a:avLst/>
          </a:prstGeom>
          <a:noFill/>
        </p:spPr>
        <p:txBody>
          <a:bodyPr wrap="square" lIns="0" rIns="0" tIns="0" bIns="0" anchor="t">
            <a:spAutoFit/>
          </a:bodyPr>
          <a:lstStyle/>
          <a:p>
            <a:pPr algn="l">
              <a:spcAft>
                <a:spcPts val="400"/>
              </a:spcAft>
            </a:pPr>
            <a:r>
              <a:rPr sz="2000" b="1">
                <a:solidFill>
                  <a:srgbClr val="0B3B30"/>
                </a:solidFill>
                <a:latin typeface="Calibri"/>
              </a:rPr>
              <a:t>Grootte telt</a:t>
            </a:r>
          </a:p>
          <a:p>
            <a:pPr algn="l">
              <a:spcAft>
                <a:spcPts val="400"/>
              </a:spcAft>
            </a:pPr>
            <a:r>
              <a:rPr sz="1500" b="0">
                <a:solidFill>
                  <a:srgbClr val="1A1A1A"/>
                </a:solidFill>
                <a:latin typeface="Calibri"/>
              </a:rPr>
              <a:t>Klein 0,48 van landelijk, groot 1,16. Het aandeel dat verzuimt stijgt van 34% (1–4 werknemers) tot 53% (50+).</a:t>
            </a:r>
          </a:p>
        </p:txBody>
      </p:sp>
      <p:sp>
        <p:nvSpPr>
          <p:cNvPr id="21" name="certainty card"/>
          <p:cNvSpPr/>
          <p:nvPr/>
        </p:nvSpPr>
        <p:spPr>
          <a:xfrm>
            <a:off x="6263640" y="4434840"/>
            <a:ext cx="5349240" cy="1691640"/>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dge ?"/>
          <p:cNvSpPr/>
          <p:nvPr/>
        </p:nvSpPr>
        <p:spPr>
          <a:xfrm>
            <a:off x="6492240" y="4663440"/>
            <a:ext cx="502920" cy="502920"/>
          </a:xfrm>
          <a:prstGeom prst="ellipse">
            <a:avLst/>
          </a:prstGeom>
          <a:solidFill>
            <a:srgbClr val="0B3B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a:solidFill>
                  <a:srgbClr val="FFFFFF"/>
                </a:solidFill>
                <a:latin typeface="Calibri"/>
              </a:rPr>
              <a:t>?</a:t>
            </a:r>
          </a:p>
        </p:txBody>
      </p:sp>
      <p:sp>
        <p:nvSpPr>
          <p:cNvPr id="23" name="certainty text"/>
          <p:cNvSpPr txBox="1"/>
          <p:nvPr/>
        </p:nvSpPr>
        <p:spPr>
          <a:xfrm>
            <a:off x="7223760" y="4617720"/>
            <a:ext cx="4206240" cy="1417320"/>
          </a:xfrm>
          <a:prstGeom prst="rect">
            <a:avLst/>
          </a:prstGeom>
          <a:noFill/>
        </p:spPr>
        <p:txBody>
          <a:bodyPr wrap="square" lIns="0" rIns="0" tIns="0" bIns="0" anchor="t">
            <a:spAutoFit/>
          </a:bodyPr>
          <a:lstStyle/>
          <a:p>
            <a:pPr algn="l">
              <a:spcAft>
                <a:spcPts val="400"/>
              </a:spcAft>
            </a:pPr>
            <a:r>
              <a:rPr sz="2000" b="1">
                <a:solidFill>
                  <a:srgbClr val="0B3B30"/>
                </a:solidFill>
                <a:latin typeface="Calibri"/>
              </a:rPr>
              <a:t>Niet elk verschil is echt</a:t>
            </a:r>
          </a:p>
          <a:p>
            <a:pPr algn="l">
              <a:spcAft>
                <a:spcPts val="400"/>
              </a:spcAft>
            </a:pPr>
            <a:r>
              <a:rPr sz="1500" b="0">
                <a:solidFill>
                  <a:srgbClr val="1A1A1A"/>
                </a:solidFill>
                <a:latin typeface="Calibri"/>
              </a:rPr>
              <a:t>42 van de 65 enquêtematen voor de zorg liggen binnen de foutmarge. Samenhang, geen oorzaak.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3B30"/>
        </a:solidFill>
        <a:effectLst/>
      </p:bgPr>
    </p:bg>
    <p:spTree>
      <p:nvGrpSpPr>
        <p:cNvPr id="1" name=""/>
        <p:cNvGrpSpPr/>
        <p:nvPr/>
      </p:nvGrpSpPr>
      <p:grpSpPr/>
      <p:sp>
        <p:nvSpPr>
          <p:cNvPr id="2" name="title"/>
          <p:cNvSpPr txBox="1"/>
          <p:nvPr/>
        </p:nvSpPr>
        <p:spPr>
          <a:xfrm>
            <a:off x="731520" y="1097280"/>
            <a:ext cx="5486400" cy="1280160"/>
          </a:xfrm>
          <a:prstGeom prst="rect">
            <a:avLst/>
          </a:prstGeom>
          <a:noFill/>
        </p:spPr>
        <p:txBody>
          <a:bodyPr wrap="square" lIns="0" rIns="0" tIns="0" bIns="0" anchor="t">
            <a:spAutoFit/>
          </a:bodyPr>
          <a:lstStyle/>
          <a:p>
            <a:pPr algn="l"/>
            <a:r>
              <a:rPr sz="6000" b="1">
                <a:solidFill>
                  <a:srgbClr val="FFFFFF"/>
                </a:solidFill>
                <a:latin typeface="Calibri"/>
              </a:rPr>
              <a:t>Demo</a:t>
            </a:r>
          </a:p>
        </p:txBody>
      </p:sp>
      <p:sp>
        <p:nvSpPr>
          <p:cNvPr id="3" name="badge 1"/>
          <p:cNvSpPr/>
          <p:nvPr/>
        </p:nvSpPr>
        <p:spPr>
          <a:xfrm>
            <a:off x="731520" y="2651760"/>
            <a:ext cx="457200" cy="457200"/>
          </a:xfrm>
          <a:prstGeom prst="ellipse">
            <a:avLst/>
          </a:prstGeom>
          <a:solidFill>
            <a:srgbClr val="0C80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1</a:t>
            </a:r>
          </a:p>
        </p:txBody>
      </p:sp>
      <p:sp>
        <p:nvSpPr>
          <p:cNvPr id="4" name="demo step 1"/>
          <p:cNvSpPr txBox="1"/>
          <p:nvPr/>
        </p:nvSpPr>
        <p:spPr>
          <a:xfrm>
            <a:off x="1417320" y="2670048"/>
            <a:ext cx="8229600" cy="457200"/>
          </a:xfrm>
          <a:prstGeom prst="rect">
            <a:avLst/>
          </a:prstGeom>
          <a:noFill/>
        </p:spPr>
        <p:txBody>
          <a:bodyPr wrap="square" lIns="0" rIns="0" tIns="0" bIns="0" anchor="ctr">
            <a:spAutoFit/>
          </a:bodyPr>
          <a:lstStyle/>
          <a:p>
            <a:pPr algn="l"/>
            <a:r>
              <a:rPr sz="2000" b="0">
                <a:solidFill>
                  <a:srgbClr val="FFFFFF"/>
                </a:solidFill>
                <a:latin typeface="Calibri"/>
              </a:rPr>
              <a:t>Dashboard: de risico-index</a:t>
            </a:r>
          </a:p>
        </p:txBody>
      </p:sp>
      <p:sp>
        <p:nvSpPr>
          <p:cNvPr id="5" name="badge 2"/>
          <p:cNvSpPr/>
          <p:nvPr/>
        </p:nvSpPr>
        <p:spPr>
          <a:xfrm>
            <a:off x="731520" y="3364991"/>
            <a:ext cx="457200" cy="457200"/>
          </a:xfrm>
          <a:prstGeom prst="ellipse">
            <a:avLst/>
          </a:prstGeom>
          <a:solidFill>
            <a:srgbClr val="0C80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2</a:t>
            </a:r>
          </a:p>
        </p:txBody>
      </p:sp>
      <p:sp>
        <p:nvSpPr>
          <p:cNvPr id="6" name="demo step 2"/>
          <p:cNvSpPr txBox="1"/>
          <p:nvPr/>
        </p:nvSpPr>
        <p:spPr>
          <a:xfrm>
            <a:off x="1417320" y="3383279"/>
            <a:ext cx="8229600" cy="457200"/>
          </a:xfrm>
          <a:prstGeom prst="rect">
            <a:avLst/>
          </a:prstGeom>
          <a:noFill/>
        </p:spPr>
        <p:txBody>
          <a:bodyPr wrap="square" lIns="0" rIns="0" tIns="0" bIns="0" anchor="ctr">
            <a:spAutoFit/>
          </a:bodyPr>
          <a:lstStyle/>
          <a:p>
            <a:pPr algn="l"/>
            <a:r>
              <a:rPr sz="2000" b="0">
                <a:solidFill>
                  <a:srgbClr val="FFFFFF"/>
                </a:solidFill>
                <a:latin typeface="Calibri"/>
              </a:rPr>
              <a:t>Eén sector uitgelegd en over de tijd</a:t>
            </a:r>
          </a:p>
        </p:txBody>
      </p:sp>
      <p:sp>
        <p:nvSpPr>
          <p:cNvPr id="7" name="badge 3"/>
          <p:cNvSpPr/>
          <p:nvPr/>
        </p:nvSpPr>
        <p:spPr>
          <a:xfrm>
            <a:off x="731520" y="4078224"/>
            <a:ext cx="457200" cy="457200"/>
          </a:xfrm>
          <a:prstGeom prst="ellipse">
            <a:avLst/>
          </a:prstGeom>
          <a:solidFill>
            <a:srgbClr val="0C80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3</a:t>
            </a:r>
          </a:p>
        </p:txBody>
      </p:sp>
      <p:sp>
        <p:nvSpPr>
          <p:cNvPr id="8" name="demo step 3"/>
          <p:cNvSpPr txBox="1"/>
          <p:nvPr/>
        </p:nvSpPr>
        <p:spPr>
          <a:xfrm>
            <a:off x="1417320" y="4096511"/>
            <a:ext cx="8229600" cy="457200"/>
          </a:xfrm>
          <a:prstGeom prst="rect">
            <a:avLst/>
          </a:prstGeom>
          <a:noFill/>
        </p:spPr>
        <p:txBody>
          <a:bodyPr wrap="square" lIns="0" rIns="0" tIns="0" bIns="0" anchor="ctr">
            <a:spAutoFit/>
          </a:bodyPr>
          <a:lstStyle/>
          <a:p>
            <a:pPr algn="l"/>
            <a:r>
              <a:rPr sz="2000" b="0">
                <a:solidFill>
                  <a:srgbClr val="FFFFFF"/>
                </a:solidFill>
                <a:latin typeface="Calibri"/>
              </a:rPr>
              <a:t>Herkomst van een getal in de lineage explorer</a:t>
            </a:r>
          </a:p>
        </p:txBody>
      </p:sp>
      <p:sp>
        <p:nvSpPr>
          <p:cNvPr id="9" name="badge 4"/>
          <p:cNvSpPr/>
          <p:nvPr/>
        </p:nvSpPr>
        <p:spPr>
          <a:xfrm>
            <a:off x="731520" y="4791456"/>
            <a:ext cx="457200" cy="457200"/>
          </a:xfrm>
          <a:prstGeom prst="ellipse">
            <a:avLst/>
          </a:prstGeom>
          <a:solidFill>
            <a:srgbClr val="0C80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4</a:t>
            </a:r>
          </a:p>
        </p:txBody>
      </p:sp>
      <p:sp>
        <p:nvSpPr>
          <p:cNvPr id="10" name="demo step 4"/>
          <p:cNvSpPr txBox="1"/>
          <p:nvPr/>
        </p:nvSpPr>
        <p:spPr>
          <a:xfrm>
            <a:off x="1417320" y="4809744"/>
            <a:ext cx="8229600" cy="457200"/>
          </a:xfrm>
          <a:prstGeom prst="rect">
            <a:avLst/>
          </a:prstGeom>
          <a:noFill/>
        </p:spPr>
        <p:txBody>
          <a:bodyPr wrap="square" lIns="0" rIns="0" tIns="0" bIns="0" anchor="ctr">
            <a:spAutoFit/>
          </a:bodyPr>
          <a:lstStyle/>
          <a:p>
            <a:pPr algn="l"/>
            <a:r>
              <a:rPr sz="2000" b="0">
                <a:solidFill>
                  <a:srgbClr val="FFFFFF"/>
                </a:solidFill>
                <a:latin typeface="Calibri"/>
              </a:rPr>
              <a:t>Dagster: workflow en controles</a:t>
            </a:r>
          </a:p>
        </p:txBody>
      </p:sp>
      <p:sp>
        <p:nvSpPr>
          <p:cNvPr id="11" name="badge 5"/>
          <p:cNvSpPr/>
          <p:nvPr/>
        </p:nvSpPr>
        <p:spPr>
          <a:xfrm>
            <a:off x="731520" y="5504688"/>
            <a:ext cx="457200" cy="457200"/>
          </a:xfrm>
          <a:prstGeom prst="ellipse">
            <a:avLst/>
          </a:prstGeom>
          <a:solidFill>
            <a:srgbClr val="0C806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5</a:t>
            </a:r>
          </a:p>
        </p:txBody>
      </p:sp>
      <p:sp>
        <p:nvSpPr>
          <p:cNvPr id="12" name="demo step 5"/>
          <p:cNvSpPr txBox="1"/>
          <p:nvPr/>
        </p:nvSpPr>
        <p:spPr>
          <a:xfrm>
            <a:off x="1417320" y="5522975"/>
            <a:ext cx="8229600" cy="457200"/>
          </a:xfrm>
          <a:prstGeom prst="rect">
            <a:avLst/>
          </a:prstGeom>
          <a:noFill/>
        </p:spPr>
        <p:txBody>
          <a:bodyPr wrap="square" lIns="0" rIns="0" tIns="0" bIns="0" anchor="ctr">
            <a:spAutoFit/>
          </a:bodyPr>
          <a:lstStyle/>
          <a:p>
            <a:pPr algn="l"/>
            <a:r>
              <a:rPr sz="2000" b="0">
                <a:solidFill>
                  <a:srgbClr val="FFFFFF"/>
                </a:solidFill>
                <a:latin typeface="Calibri"/>
              </a:rPr>
              <a:t>De lakehouse viewer: datakwaliteit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48640" y="411480"/>
            <a:ext cx="11094415" cy="822960"/>
          </a:xfrm>
          <a:prstGeom prst="rect">
            <a:avLst/>
          </a:prstGeom>
          <a:noFill/>
        </p:spPr>
        <p:txBody>
          <a:bodyPr wrap="square" lIns="0" rIns="0" tIns="0" bIns="0" anchor="ctr">
            <a:spAutoFit/>
          </a:bodyPr>
          <a:lstStyle/>
          <a:p>
            <a:pPr algn="l"/>
            <a:r>
              <a:rPr sz="3600" b="1">
                <a:solidFill>
                  <a:srgbClr val="0B3B30"/>
                </a:solidFill>
                <a:latin typeface="Calibri"/>
              </a:rPr>
              <a:t>Betrouwbaar en verantwoord</a:t>
            </a:r>
          </a:p>
        </p:txBody>
      </p:sp>
      <p:sp>
        <p:nvSpPr>
          <p:cNvPr id="3" name="footer"/>
          <p:cNvSpPr txBox="1"/>
          <p:nvPr/>
        </p:nvSpPr>
        <p:spPr>
          <a:xfrm>
            <a:off x="548640" y="6400800"/>
            <a:ext cx="7315200" cy="274320"/>
          </a:xfrm>
          <a:prstGeom prst="rect">
            <a:avLst/>
          </a:prstGeom>
          <a:noFill/>
        </p:spPr>
        <p:txBody>
          <a:bodyPr wrap="square" lIns="0" rIns="0" tIns="0" bIns="0" anchor="t">
            <a:spAutoFit/>
          </a:bodyPr>
          <a:lstStyle/>
          <a:p>
            <a:pPr algn="l"/>
            <a:r>
              <a:rPr sz="1000" b="0">
                <a:solidFill>
                  <a:srgbClr val="5F6B66"/>
                </a:solidFill>
                <a:latin typeface="Calibri"/>
              </a:rPr>
              <a:t>Verzuimrisico per sector en bedrijfsgrootte  ·  Data and AI Engineering</a:t>
            </a:r>
          </a:p>
        </p:txBody>
      </p:sp>
      <p:sp>
        <p:nvSpPr>
          <p:cNvPr id="4" name="slide number"/>
          <p:cNvSpPr txBox="1"/>
          <p:nvPr/>
        </p:nvSpPr>
        <p:spPr>
          <a:xfrm>
            <a:off x="10728655" y="6400800"/>
            <a:ext cx="914400" cy="274320"/>
          </a:xfrm>
          <a:prstGeom prst="rect">
            <a:avLst/>
          </a:prstGeom>
          <a:noFill/>
        </p:spPr>
        <p:txBody>
          <a:bodyPr wrap="square" lIns="0" rIns="0" tIns="0" bIns="0" anchor="t">
            <a:spAutoFit/>
          </a:bodyPr>
          <a:lstStyle/>
          <a:p>
            <a:pPr algn="r"/>
            <a:r>
              <a:rPr sz="1000" b="0">
                <a:solidFill>
                  <a:srgbClr val="5F6B66"/>
                </a:solidFill>
                <a:latin typeface="Calibri"/>
              </a:rPr>
              <a:t>8</a:t>
            </a:r>
          </a:p>
        </p:txBody>
      </p:sp>
      <p:sp>
        <p:nvSpPr>
          <p:cNvPr id="5" name="trust card 1"/>
          <p:cNvSpPr/>
          <p:nvPr/>
        </p:nvSpPr>
        <p:spPr>
          <a:xfrm>
            <a:off x="548640" y="1463040"/>
            <a:ext cx="3520440" cy="4480560"/>
          </a:xfrm>
          <a:prstGeom prst="roundRect">
            <a:avLst>
              <a:gd name="adj" fmla="val 8000"/>
            </a:avLst>
          </a:prstGeom>
          <a:solidFill>
            <a:srgbClr val="E8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rust big 1"/>
          <p:cNvSpPr txBox="1"/>
          <p:nvPr/>
        </p:nvSpPr>
        <p:spPr>
          <a:xfrm>
            <a:off x="914400" y="1783080"/>
            <a:ext cx="2834640" cy="1188720"/>
          </a:xfrm>
          <a:prstGeom prst="rect">
            <a:avLst/>
          </a:prstGeom>
          <a:noFill/>
        </p:spPr>
        <p:txBody>
          <a:bodyPr wrap="square" lIns="0" rIns="0" tIns="0" bIns="0" anchor="t">
            <a:spAutoFit/>
          </a:bodyPr>
          <a:lstStyle/>
          <a:p>
            <a:pPr algn="l"/>
            <a:r>
              <a:rPr sz="6600" b="1">
                <a:solidFill>
                  <a:srgbClr val="0B3B30"/>
                </a:solidFill>
                <a:latin typeface="Calibri"/>
              </a:rPr>
              <a:t>395</a:t>
            </a:r>
          </a:p>
        </p:txBody>
      </p:sp>
      <p:sp>
        <p:nvSpPr>
          <p:cNvPr id="7" name="trust head 1"/>
          <p:cNvSpPr txBox="1"/>
          <p:nvPr/>
        </p:nvSpPr>
        <p:spPr>
          <a:xfrm>
            <a:off x="914400" y="3063240"/>
            <a:ext cx="2834640" cy="822960"/>
          </a:xfrm>
          <a:prstGeom prst="rect">
            <a:avLst/>
          </a:prstGeom>
          <a:noFill/>
        </p:spPr>
        <p:txBody>
          <a:bodyPr wrap="square" lIns="0" rIns="0" tIns="0" bIns="0" anchor="t">
            <a:spAutoFit/>
          </a:bodyPr>
          <a:lstStyle/>
          <a:p>
            <a:pPr algn="l"/>
            <a:r>
              <a:rPr sz="2000" b="1">
                <a:solidFill>
                  <a:srgbClr val="0B3B30"/>
                </a:solidFill>
                <a:latin typeface="Calibri"/>
              </a:rPr>
              <a:t>geautomatiseerde tests</a:t>
            </a:r>
          </a:p>
        </p:txBody>
      </p:sp>
      <p:sp>
        <p:nvSpPr>
          <p:cNvPr id="8" name="trust body 1"/>
          <p:cNvSpPr txBox="1"/>
          <p:nvPr/>
        </p:nvSpPr>
        <p:spPr>
          <a:xfrm>
            <a:off x="914400" y="3977639"/>
            <a:ext cx="2834640" cy="1737360"/>
          </a:xfrm>
          <a:prstGeom prst="rect">
            <a:avLst/>
          </a:prstGeom>
          <a:noFill/>
        </p:spPr>
        <p:txBody>
          <a:bodyPr wrap="square" lIns="0" rIns="0" tIns="0" bIns="0" anchor="t">
            <a:spAutoFit/>
          </a:bodyPr>
          <a:lstStyle/>
          <a:p>
            <a:pPr algn="l"/>
            <a:r>
              <a:rPr sz="1500" b="0">
                <a:solidFill>
                  <a:srgbClr val="1A1A1A"/>
                </a:solidFill>
                <a:latin typeface="Calibri"/>
              </a:rPr>
              <a:t>Bij elke wijziging opnieuw, ook op GitHub op een schone machine</a:t>
            </a:r>
          </a:p>
        </p:txBody>
      </p:sp>
      <p:sp>
        <p:nvSpPr>
          <p:cNvPr id="9" name="trust card 2"/>
          <p:cNvSpPr/>
          <p:nvPr/>
        </p:nvSpPr>
        <p:spPr>
          <a:xfrm>
            <a:off x="4297679" y="1463040"/>
            <a:ext cx="3520440" cy="4480560"/>
          </a:xfrm>
          <a:prstGeom prst="roundRect">
            <a:avLst>
              <a:gd name="adj" fmla="val 8000"/>
            </a:avLst>
          </a:prstGeom>
          <a:solidFill>
            <a:srgbClr val="E8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rust big 2"/>
          <p:cNvSpPr txBox="1"/>
          <p:nvPr/>
        </p:nvSpPr>
        <p:spPr>
          <a:xfrm>
            <a:off x="4663440" y="1783080"/>
            <a:ext cx="2834640" cy="1188720"/>
          </a:xfrm>
          <a:prstGeom prst="rect">
            <a:avLst/>
          </a:prstGeom>
          <a:noFill/>
        </p:spPr>
        <p:txBody>
          <a:bodyPr wrap="square" lIns="0" rIns="0" tIns="0" bIns="0" anchor="t">
            <a:spAutoFit/>
          </a:bodyPr>
          <a:lstStyle/>
          <a:p>
            <a:pPr algn="l"/>
            <a:r>
              <a:rPr sz="6600" b="1">
                <a:solidFill>
                  <a:srgbClr val="0B3B30"/>
                </a:solidFill>
                <a:latin typeface="Calibri"/>
              </a:rPr>
              <a:t>0</a:t>
            </a:r>
          </a:p>
        </p:txBody>
      </p:sp>
      <p:sp>
        <p:nvSpPr>
          <p:cNvPr id="11" name="trust head 2"/>
          <p:cNvSpPr txBox="1"/>
          <p:nvPr/>
        </p:nvSpPr>
        <p:spPr>
          <a:xfrm>
            <a:off x="4663440" y="3063240"/>
            <a:ext cx="2834640" cy="822960"/>
          </a:xfrm>
          <a:prstGeom prst="rect">
            <a:avLst/>
          </a:prstGeom>
          <a:noFill/>
        </p:spPr>
        <p:txBody>
          <a:bodyPr wrap="square" lIns="0" rIns="0" tIns="0" bIns="0" anchor="t">
            <a:spAutoFit/>
          </a:bodyPr>
          <a:lstStyle/>
          <a:p>
            <a:pPr algn="l"/>
            <a:r>
              <a:rPr sz="2000" b="1">
                <a:solidFill>
                  <a:srgbClr val="0B3B30"/>
                </a:solidFill>
                <a:latin typeface="Calibri"/>
              </a:rPr>
              <a:t>persoonsgegevens van verzekerden</a:t>
            </a:r>
          </a:p>
        </p:txBody>
      </p:sp>
      <p:sp>
        <p:nvSpPr>
          <p:cNvPr id="12" name="trust body 2"/>
          <p:cNvSpPr txBox="1"/>
          <p:nvPr/>
        </p:nvSpPr>
        <p:spPr>
          <a:xfrm>
            <a:off x="4663440" y="3977639"/>
            <a:ext cx="2834640" cy="1737360"/>
          </a:xfrm>
          <a:prstGeom prst="rect">
            <a:avLst/>
          </a:prstGeom>
          <a:noFill/>
        </p:spPr>
        <p:txBody>
          <a:bodyPr wrap="square" lIns="0" rIns="0" tIns="0" bIns="0" anchor="t">
            <a:spAutoFit/>
          </a:bodyPr>
          <a:lstStyle/>
          <a:p>
            <a:pPr algn="l"/>
            <a:r>
              <a:rPr sz="1500" b="0">
                <a:solidFill>
                  <a:srgbClr val="1A1A1A"/>
                </a:solidFill>
                <a:latin typeface="Calibri"/>
              </a:rPr>
              <a:t>Alleen openbare, geaggregeerde cijfers; een DPIA pas bij koppeling aan eigen data</a:t>
            </a:r>
          </a:p>
        </p:txBody>
      </p:sp>
      <p:sp>
        <p:nvSpPr>
          <p:cNvPr id="13" name="trust card 3"/>
          <p:cNvSpPr/>
          <p:nvPr/>
        </p:nvSpPr>
        <p:spPr>
          <a:xfrm>
            <a:off x="8046719" y="1463040"/>
            <a:ext cx="3520440" cy="4480560"/>
          </a:xfrm>
          <a:prstGeom prst="roundRect">
            <a:avLst>
              <a:gd name="adj" fmla="val 8000"/>
            </a:avLst>
          </a:prstGeom>
          <a:solidFill>
            <a:srgbClr val="E8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rust big 3"/>
          <p:cNvSpPr txBox="1"/>
          <p:nvPr/>
        </p:nvSpPr>
        <p:spPr>
          <a:xfrm>
            <a:off x="8412480" y="1783080"/>
            <a:ext cx="2834640" cy="1188720"/>
          </a:xfrm>
          <a:prstGeom prst="rect">
            <a:avLst/>
          </a:prstGeom>
          <a:noFill/>
        </p:spPr>
        <p:txBody>
          <a:bodyPr wrap="square" lIns="0" rIns="0" tIns="0" bIns="0" anchor="t">
            <a:spAutoFit/>
          </a:bodyPr>
          <a:lstStyle/>
          <a:p>
            <a:pPr algn="l"/>
            <a:r>
              <a:rPr sz="6600" b="1">
                <a:solidFill>
                  <a:srgbClr val="0B3B30"/>
                </a:solidFill>
                <a:latin typeface="Calibri"/>
              </a:rPr>
              <a:t>8</a:t>
            </a:r>
          </a:p>
        </p:txBody>
      </p:sp>
      <p:sp>
        <p:nvSpPr>
          <p:cNvPr id="15" name="trust head 3"/>
          <p:cNvSpPr txBox="1"/>
          <p:nvPr/>
        </p:nvSpPr>
        <p:spPr>
          <a:xfrm>
            <a:off x="8412480" y="3063240"/>
            <a:ext cx="2834640" cy="822960"/>
          </a:xfrm>
          <a:prstGeom prst="rect">
            <a:avLst/>
          </a:prstGeom>
          <a:noFill/>
        </p:spPr>
        <p:txBody>
          <a:bodyPr wrap="square" lIns="0" rIns="0" tIns="0" bIns="0" anchor="t">
            <a:spAutoFit/>
          </a:bodyPr>
          <a:lstStyle/>
          <a:p>
            <a:pPr algn="l"/>
            <a:r>
              <a:rPr sz="2000" b="1">
                <a:solidFill>
                  <a:srgbClr val="0B3B30"/>
                </a:solidFill>
                <a:latin typeface="Calibri"/>
              </a:rPr>
              <a:t>fouten van de AI-assistent gevonden</a:t>
            </a:r>
          </a:p>
        </p:txBody>
      </p:sp>
      <p:sp>
        <p:nvSpPr>
          <p:cNvPr id="16" name="trust body 3"/>
          <p:cNvSpPr txBox="1"/>
          <p:nvPr/>
        </p:nvSpPr>
        <p:spPr>
          <a:xfrm>
            <a:off x="8412480" y="3977639"/>
            <a:ext cx="2834640" cy="1737360"/>
          </a:xfrm>
          <a:prstGeom prst="rect">
            <a:avLst/>
          </a:prstGeom>
          <a:noFill/>
        </p:spPr>
        <p:txBody>
          <a:bodyPr wrap="square" lIns="0" rIns="0" tIns="0" bIns="0" anchor="t">
            <a:spAutoFit/>
          </a:bodyPr>
          <a:lstStyle/>
          <a:p>
            <a:pPr algn="l"/>
            <a:r>
              <a:rPr sz="1500" b="0">
                <a:solidFill>
                  <a:srgbClr val="1A1A1A"/>
                </a:solidFill>
                <a:latin typeface="Calibri"/>
              </a:rPr>
              <a:t>Claude hielp bouwen; niets op vertrouwen aangenomen, alles getest en gemeten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3B30"/>
        </a:solidFill>
        <a:effectLst/>
      </p:bgPr>
    </p:bg>
    <p:spTree>
      <p:nvGrpSpPr>
        <p:cNvPr id="1" name=""/>
        <p:cNvGrpSpPr/>
        <p:nvPr/>
      </p:nvGrpSpPr>
      <p:grpSpPr/>
      <p:sp>
        <p:nvSpPr>
          <p:cNvPr id="2" name="title"/>
          <p:cNvSpPr txBox="1"/>
          <p:nvPr/>
        </p:nvSpPr>
        <p:spPr>
          <a:xfrm>
            <a:off x="731520" y="548640"/>
            <a:ext cx="10058400" cy="914400"/>
          </a:xfrm>
          <a:prstGeom prst="rect">
            <a:avLst/>
          </a:prstGeom>
          <a:noFill/>
        </p:spPr>
        <p:txBody>
          <a:bodyPr wrap="square" lIns="0" rIns="0" tIns="0" bIns="0" anchor="t">
            <a:spAutoFit/>
          </a:bodyPr>
          <a:lstStyle/>
          <a:p>
            <a:pPr algn="l"/>
            <a:r>
              <a:rPr sz="4000" b="1">
                <a:solidFill>
                  <a:srgbClr val="FFFFFF"/>
                </a:solidFill>
                <a:latin typeface="Calibri"/>
              </a:rPr>
              <a:t>Conclusie en advies</a:t>
            </a:r>
          </a:p>
        </p:txBody>
      </p:sp>
      <p:sp>
        <p:nvSpPr>
          <p:cNvPr id="3" name="conclusion"/>
          <p:cNvSpPr txBox="1"/>
          <p:nvPr/>
        </p:nvSpPr>
        <p:spPr>
          <a:xfrm>
            <a:off x="731520" y="1737360"/>
            <a:ext cx="5120640" cy="4206240"/>
          </a:xfrm>
          <a:prstGeom prst="rect">
            <a:avLst/>
          </a:prstGeom>
          <a:noFill/>
        </p:spPr>
        <p:txBody>
          <a:bodyPr wrap="square" lIns="0" rIns="0" tIns="0" bIns="0" anchor="t">
            <a:spAutoFit/>
          </a:bodyPr>
          <a:lstStyle/>
          <a:p>
            <a:pPr algn="l">
              <a:spcAft>
                <a:spcPts val="1200"/>
              </a:spcAft>
            </a:pPr>
            <a:r>
              <a:rPr sz="2200" b="1">
                <a:solidFill>
                  <a:srgbClr val="BFDBD1"/>
                </a:solidFill>
                <a:latin typeface="Calibri"/>
              </a:rPr>
              <a:t>Conclusie</a:t>
            </a:r>
          </a:p>
          <a:p>
            <a:pPr algn="l">
              <a:spcAft>
                <a:spcPts val="1200"/>
              </a:spcAft>
            </a:pPr>
            <a:r>
              <a:rPr sz="1700" b="0">
                <a:solidFill>
                  <a:srgbClr val="FFFFFF"/>
                </a:solidFill>
                <a:latin typeface="Calibri"/>
              </a:rPr>
              <a:t>Sector en grootte gaan duidelijk samen met hoger verzuim: de zorg 40% boven landelijk, grote bedrijven 16%.</a:t>
            </a:r>
          </a:p>
          <a:p>
            <a:pPr algn="l">
              <a:spcAft>
                <a:spcPts val="1200"/>
              </a:spcAft>
            </a:pPr>
            <a:r>
              <a:rPr sz="1700" b="0">
                <a:solidFill>
                  <a:srgbClr val="FFFFFF"/>
                </a:solidFill>
                <a:latin typeface="Calibri"/>
              </a:rPr>
              <a:t>Het platform maakt dit herhaalbaar, gecontroleerd en herleidbaar, met alleen openbare data.</a:t>
            </a:r>
          </a:p>
        </p:txBody>
      </p:sp>
      <p:sp>
        <p:nvSpPr>
          <p:cNvPr id="4" name="advice"/>
          <p:cNvSpPr txBox="1"/>
          <p:nvPr/>
        </p:nvSpPr>
        <p:spPr>
          <a:xfrm>
            <a:off x="6400800" y="1737360"/>
            <a:ext cx="5120640" cy="4206240"/>
          </a:xfrm>
          <a:prstGeom prst="rect">
            <a:avLst/>
          </a:prstGeom>
          <a:noFill/>
        </p:spPr>
        <p:txBody>
          <a:bodyPr wrap="square" lIns="0" rIns="0" tIns="0" bIns="0" anchor="t">
            <a:spAutoFit/>
          </a:bodyPr>
          <a:lstStyle/>
          <a:p>
            <a:pPr algn="l">
              <a:spcAft>
                <a:spcPts val="1000"/>
              </a:spcAft>
            </a:pPr>
            <a:r>
              <a:rPr sz="2200" b="1">
                <a:solidFill>
                  <a:srgbClr val="BFDBD1"/>
                </a:solidFill>
                <a:latin typeface="Calibri"/>
              </a:rPr>
              <a:t>Advies</a:t>
            </a:r>
          </a:p>
          <a:p>
            <a:pPr algn="l">
              <a:spcAft>
                <a:spcPts val="1000"/>
              </a:spcAft>
            </a:pPr>
            <a:r>
              <a:rPr sz="1700" b="0">
                <a:solidFill>
                  <a:srgbClr val="FFFFFF"/>
                </a:solidFill>
                <a:latin typeface="Calibri"/>
              </a:rPr>
              <a:t>Gebruik de index naast de eigen cijfers, op groepsniveau</a:t>
            </a:r>
          </a:p>
          <a:p>
            <a:pPr algn="l">
              <a:spcAft>
                <a:spcPts val="1000"/>
              </a:spcAft>
            </a:pPr>
            <a:r>
              <a:rPr sz="1700" b="0">
                <a:solidFill>
                  <a:srgbClr val="FFFFFF"/>
                </a:solidFill>
                <a:latin typeface="Calibri"/>
              </a:rPr>
              <a:t>Lees een trend niet als voorspelling</a:t>
            </a:r>
          </a:p>
          <a:p>
            <a:pPr algn="l">
              <a:spcAft>
                <a:spcPts val="1000"/>
              </a:spcAft>
            </a:pPr>
            <a:r>
              <a:rPr sz="1700" b="0">
                <a:solidFill>
                  <a:srgbClr val="FFFFFF"/>
                </a:solidFill>
                <a:latin typeface="Calibri"/>
              </a:rPr>
              <a:t>Laat compliance premiedifferentiatie toetsen</a:t>
            </a:r>
          </a:p>
          <a:p>
            <a:pPr algn="l">
              <a:spcAft>
                <a:spcPts val="1000"/>
              </a:spcAft>
            </a:pPr>
            <a:r>
              <a:rPr sz="1700" b="0">
                <a:solidFill>
                  <a:srgbClr val="FFFFFF"/>
                </a:solidFill>
                <a:latin typeface="Calibri"/>
              </a:rPr>
              <a:t>Koppel aan schadegegevens pas na een DPIA</a:t>
            </a:r>
          </a:p>
          <a:p>
            <a:pPr algn="l">
              <a:spcAft>
                <a:spcPts val="1000"/>
              </a:spcAft>
            </a:pPr>
            <a:r>
              <a:rPr sz="1700" b="1">
                <a:solidFill>
                  <a:srgbClr val="BFDBD1"/>
                </a:solidFill>
                <a:latin typeface="Calibri"/>
              </a:rPr>
              <a:t>Volgende stap: Azure volgens het clouddesign</a:t>
            </a:r>
          </a:p>
        </p:txBody>
      </p:sp>
      <p:sp>
        <p:nvSpPr>
          <p:cNvPr id="5" name="code link"/>
          <p:cNvSpPr txBox="1"/>
          <p:nvPr/>
        </p:nvSpPr>
        <p:spPr>
          <a:xfrm>
            <a:off x="731520" y="6035040"/>
            <a:ext cx="10515600" cy="365760"/>
          </a:xfrm>
          <a:prstGeom prst="rect">
            <a:avLst/>
          </a:prstGeom>
          <a:noFill/>
        </p:spPr>
        <p:txBody>
          <a:bodyPr wrap="square" lIns="0" rIns="0" tIns="0" bIns="0" anchor="t">
            <a:spAutoFit/>
          </a:bodyPr>
          <a:lstStyle/>
          <a:p>
            <a:pPr algn="l"/>
            <a:r>
              <a:rPr sz="1400" b="0">
                <a:solidFill>
                  <a:srgbClr val="BFDBD1"/>
                </a:solidFill>
                <a:latin typeface="Calibri"/>
              </a:rPr>
              <a:t>Code: github.com/stefancodecommit/AOV_Lakehouse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