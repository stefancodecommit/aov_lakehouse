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Relatief risico</c:v>
                </c:pt>
              </c:strCache>
            </c:strRef>
          </c:tx>
          <c:dPt>
            <c:idx val="0"/>
            <c:spPr>
              <a:solidFill>
                <a:srgbClr val="0C8066"/>
              </a:solidFill>
            </c:spPr>
          </c:dPt>
          <c:dPt>
            <c:idx val="1"/>
            <c:spPr>
              <a:solidFill>
                <a:srgbClr val="0C8066"/>
              </a:solidFill>
            </c:spPr>
          </c:dPt>
          <c:dPt>
            <c:idx val="2"/>
            <c:spPr>
              <a:solidFill>
                <a:srgbClr val="0C8066"/>
              </a:solidFill>
            </c:spPr>
          </c:dPt>
          <c:dPt>
            <c:idx val="3"/>
            <c:spPr>
              <a:solidFill>
                <a:srgbClr val="0C8066"/>
              </a:solidFill>
            </c:spPr>
          </c:dPt>
          <c:dPt>
            <c:idx val="4"/>
            <c:spPr>
              <a:solidFill>
                <a:srgbClr val="0C8066"/>
              </a:solidFill>
            </c:spPr>
          </c:dPt>
          <c:dPt>
            <c:idx val="5"/>
            <c:spPr>
              <a:solidFill>
                <a:srgbClr val="0C8066"/>
              </a:solidFill>
            </c:spPr>
          </c:dPt>
          <c:dPt>
            <c:idx val="6"/>
            <c:spPr>
              <a:solidFill>
                <a:srgbClr val="0C8066"/>
              </a:solidFill>
            </c:spPr>
          </c:dPt>
          <c:dPt>
            <c:idx val="7"/>
            <c:spPr>
              <a:solidFill>
                <a:srgbClr val="0C8066"/>
              </a:solidFill>
            </c:spPr>
          </c:dPt>
          <c:dPt>
            <c:idx val="8"/>
            <c:spPr>
              <a:solidFill>
                <a:srgbClr val="0C8066"/>
              </a:solidFill>
            </c:spPr>
          </c:dPt>
          <c:dPt>
            <c:idx val="9"/>
            <c:spPr>
              <a:solidFill>
                <a:srgbClr val="0C8066"/>
              </a:solidFill>
            </c:spPr>
          </c:dPt>
          <c:dPt>
            <c:idx val="10"/>
            <c:spPr>
              <a:solidFill>
                <a:srgbClr val="0C8066"/>
              </a:solidFill>
            </c:spPr>
          </c:dPt>
          <c:dPt>
            <c:idx val="11"/>
            <c:spPr>
              <a:solidFill>
                <a:srgbClr val="0C8066"/>
              </a:solidFill>
            </c:spPr>
          </c:dPt>
          <c:dPt>
            <c:idx val="12"/>
            <c:spPr>
              <a:solidFill>
                <a:srgbClr val="0C8066"/>
              </a:solidFill>
            </c:spPr>
          </c:dPt>
          <c:dPt>
            <c:idx val="13"/>
            <c:spPr>
              <a:solidFill>
                <a:srgbClr val="9AA5A0"/>
              </a:solidFill>
            </c:spPr>
          </c:dPt>
          <c:dPt>
            <c:idx val="14"/>
            <c:spPr>
              <a:solidFill>
                <a:srgbClr val="C0392B"/>
              </a:solidFill>
            </c:spPr>
          </c:dPt>
          <c:dPt>
            <c:idx val="15"/>
            <c:spPr>
              <a:solidFill>
                <a:srgbClr val="C0392B"/>
              </a:solidFill>
            </c:spPr>
          </c:dPt>
          <c:dPt>
            <c:idx val="16"/>
            <c:spPr>
              <a:solidFill>
                <a:srgbClr val="C0392B"/>
              </a:solidFill>
            </c:spPr>
          </c:dPt>
          <c:dPt>
            <c:idx val="17"/>
            <c:spPr>
              <a:solidFill>
                <a:srgbClr val="C0392B"/>
              </a:solidFill>
            </c:spPr>
          </c:dPt>
          <c:dPt>
            <c:idx val="18"/>
            <c:spPr>
              <a:solidFill>
                <a:srgbClr val="C0392B"/>
              </a:solidFill>
            </c:spPr>
          </c:dPt>
          <c:cat>
            <c:strRef>
              <c:f>Sheet1!$A$2:$A$20</c:f>
              <c:strCache>
                <c:ptCount val="19"/>
                <c:pt idx="0">
                  <c:v>I  Horeca</c:v>
                </c:pt>
                <c:pt idx="1">
                  <c:v>A  Landbouw</c:v>
                </c:pt>
                <c:pt idx="2">
                  <c:v>M  Specialistische zak. diensten</c:v>
                </c:pt>
                <c:pt idx="3">
                  <c:v>J  Informatie en communicatie</c:v>
                </c:pt>
                <c:pt idx="4">
                  <c:v>K  Financiële diensten</c:v>
                </c:pt>
                <c:pt idx="5">
                  <c:v>R  Cultuur en recreatie</c:v>
                </c:pt>
                <c:pt idx="6">
                  <c:v>L  Onroerend goed</c:v>
                </c:pt>
                <c:pt idx="7">
                  <c:v>D  Energie</c:v>
                </c:pt>
                <c:pt idx="8">
                  <c:v>G  Handel</c:v>
                </c:pt>
                <c:pt idx="9">
                  <c:v>F  Bouw</c:v>
                </c:pt>
                <c:pt idx="10">
                  <c:v>N  Overige zak. diensten</c:v>
                </c:pt>
                <c:pt idx="11">
                  <c:v>S  Overige dienstverlening</c:v>
                </c:pt>
                <c:pt idx="12">
                  <c:v>B  Delfstoffen</c:v>
                </c:pt>
                <c:pt idx="13">
                  <c:v>P  Onderwijs</c:v>
                </c:pt>
                <c:pt idx="14">
                  <c:v>C  Industrie</c:v>
                </c:pt>
                <c:pt idx="15">
                  <c:v>H  Vervoer en opslag</c:v>
                </c:pt>
                <c:pt idx="16">
                  <c:v>O  Openbaar bestuur</c:v>
                </c:pt>
                <c:pt idx="17">
                  <c:v>E  Water en afval</c:v>
                </c:pt>
                <c:pt idx="18">
                  <c:v>Q  Zorg en welzijn</c:v>
                </c:pt>
              </c:strCache>
            </c:strRef>
          </c:cat>
          <c:val>
            <c:numRef>
              <c:f>Sheet1!$B$2:$B$20</c:f>
              <c:numCache>
                <c:formatCode>General</c:formatCode>
                <c:ptCount val="19"/>
                <c:pt idx="0">
                  <c:v>0.606</c:v>
                </c:pt>
                <c:pt idx="1">
                  <c:v>0.611</c:v>
                </c:pt>
                <c:pt idx="2">
                  <c:v>0.639</c:v>
                </c:pt>
                <c:pt idx="3">
                  <c:v>0.73</c:v>
                </c:pt>
                <c:pt idx="4">
                  <c:v>0.748</c:v>
                </c:pt>
                <c:pt idx="5">
                  <c:v>0.803</c:v>
                </c:pt>
                <c:pt idx="6">
                  <c:v>0.803</c:v>
                </c:pt>
                <c:pt idx="7">
                  <c:v>0.843</c:v>
                </c:pt>
                <c:pt idx="8">
                  <c:v>0.891</c:v>
                </c:pt>
                <c:pt idx="9">
                  <c:v>0.9</c:v>
                </c:pt>
                <c:pt idx="10">
                  <c:v>0.903</c:v>
                </c:pt>
                <c:pt idx="11">
                  <c:v>0.912</c:v>
                </c:pt>
                <c:pt idx="12">
                  <c:v>0.934</c:v>
                </c:pt>
                <c:pt idx="13">
                  <c:v>1.044</c:v>
                </c:pt>
                <c:pt idx="14">
                  <c:v>1.15</c:v>
                </c:pt>
                <c:pt idx="15">
                  <c:v>1.153</c:v>
                </c:pt>
                <c:pt idx="16">
                  <c:v>1.173</c:v>
                </c:pt>
                <c:pt idx="17">
                  <c:v>1.241</c:v>
                </c:pt>
                <c:pt idx="18">
                  <c:v>1.401</c:v>
                </c:pt>
              </c:numCache>
            </c:numRef>
          </c:val>
        </c:ser>
        <c:dLbls>
          <c:numFmt formatCode="0.00" sourceLinked="0"/>
          <c:txPr>
            <a:bodyPr/>
            <a:lstStyle/>
            <a:p>
              <a:pPr>
                <a:defRPr sz="1100">
                  <a:solidFill>
                    <a:srgbClr val="1A1A1A"/>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3C2B7"/>
            </a:solidFill>
          </a:ln>
        </c:spPr>
        <c:txPr>
          <a:bodyPr/>
          <a:lstStyle/>
          <a:p>
            <a:pPr>
              <a:defRPr sz="1100">
                <a:solidFill>
                  <a:srgbClr val="1A1A1A"/>
                </a:solidFill>
                <a:latin typeface="Calibri"/>
              </a:defRPr>
            </a:pPr>
          </a:p>
        </c:txPr>
        <c:crossAx val="-2113994440"/>
        <c:crosses val="autoZero"/>
        <c:auto val="1"/>
        <c:lblAlgn val="ctr"/>
        <c:lblOffset val="100"/>
        <c:noMultiLvlLbl val="0"/>
      </c:catAx>
      <c:valAx>
        <c:axId val="-2113994440"/>
        <c:scaling>
          <c:max val="1.6"/>
          <c:min val="0.0"/>
        </c:scaling>
        <c:delete val="0"/>
        <c:axPos val="b"/>
        <c:majorGridlines>
          <c:spPr>
            <a:ln>
              <a:solidFill>
                <a:srgbClr val="DDE3E0"/>
              </a:solidFill>
            </a:ln>
          </c:spPr>
        </c:majorGridlines>
        <c:numFmt formatCode="0.0" sourceLinked="0"/>
        <c:majorTickMark val="out"/>
        <c:minorTickMark val="none"/>
        <c:tickLblPos val="nextTo"/>
        <c:spPr>
          <a:ln>
            <a:noFill/>
          </a:ln>
        </c:spPr>
        <c:txPr>
          <a:bodyPr/>
          <a:lstStyle/>
          <a:p>
            <a:pPr>
              <a:defRPr sz="1100">
                <a:solidFill>
                  <a:srgbClr val="5F6B66"/>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In ongeveer vijftien minuten laat ik zien hoe ik voor een inkomensverzekeraar een dataplatform heb gebouwd dat met openbare cijfers het verzuimrisico per sector en bedrijfsgrootte zichtbaar maakt, inclusief een korte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schaderisico van een inkomensverzekeraar is in de kern verzuimrisico. Onze eigen benchmarks kan ik hier niet gebruiken: daar zitten gezondheidsgegevens in. Daarom de op één na beste bron: het CBS. Die cijfers vervangen de eigen cijfers niet, maar zijn privacyvrij, beslaan de hele markt en zijn onafhankelijk. (~1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hoofdvraag, met zes deelvragen. Belangrijk: het CBS publiceert sector en grootte apart, nooit gecombineerd, en de cijfers gaan over werknemers, niet over zelfstandigen.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canvas uit de colleges, ingevuld: vier openbare bronnen, de levenscyclus van ingestie tot monitoring met Dagster als workflow, en rechts het gebruik: de analist, via de manager naar risicomanagement en accountmanagers. Drie principes: automatisch, gecontroleerd en herleidbaar. (~1,5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keuzes die ik bewust heb gemaakt, telkens passend bij de omvang en de eisen in plaats van het zwaarste gereedschap.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relatief risico per sectie: verzuim over de laatste vier kwartalen gedeeld door landelijk. Rood: in alle acht kwartalen boven landelijk; groen: steeds eronder. De zorg springt eruit met 1,40. Grootte: kleine bedrijven 0,48 van landelijk, grote 1,16. Let op: de laatste twee kwartalen zijn voorlopig. (~1,5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enquête laat zien waaróm: in de zorg verzuimen meer mensen, langer, en vaker door het werk, vooral besmetting en emotioneel zwaar werk. Maar 42 van de 65 maten liggen binnen de foutmarge, en het blijft samenhang: de cijfers zeggen niets over één werkgever. Ook het trendsignaal is gevoelig: met alleen definitieve cijfers stijgt een andere sector. (~1,5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ongeveer vijf minuten; volg docs/demo.md. Valt iets live uit, gebruik de terugvalopties uit dat script.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Betrouwbaar: 383 tests, ook in GitHub Actions. Verantwoord: geen persoonsgegevens van verzekerden. En generatieve AI: ik heb Claude als ontwikkelassistent gebruikt; zeven keer bleek iets niet te kloppen, zoals een CI-test die als gedaan was afgevinkt maar nooit had gedraaid. Daarom is alles getest en gemeten.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Conclusie: sector en grootte gaan duidelijk samen met verzuim, en het platform maakt dat herhaalbaar en herleidbaar zonder privacyrisico. Mijn advies: gebruik het naast de eigen cijfers en op groepsniveau, bevestig trends met definitieve cijfers, laat compliance meekijken, en koppel pas na een DPIA. Vragen? (~1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decoration"/>
          <p:cNvSpPr/>
          <p:nvPr/>
        </p:nvSpPr>
        <p:spPr>
          <a:xfrm>
            <a:off x="8778240" y="-1280160"/>
            <a:ext cx="4754880" cy="4754880"/>
          </a:xfrm>
          <a:prstGeom prst="ellipse">
            <a:avLst/>
          </a:prstGeom>
          <a:solidFill>
            <a:srgbClr val="104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oration"/>
          <p:cNvSpPr/>
          <p:nvPr/>
        </p:nvSpPr>
        <p:spPr>
          <a:xfrm>
            <a:off x="10241280" y="4023360"/>
            <a:ext cx="3108960" cy="3108960"/>
          </a:xfrm>
          <a:prstGeom prst="ellipse">
            <a:avLst/>
          </a:prstGeom>
          <a:solidFill>
            <a:srgbClr val="0E45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731520" y="1920240"/>
            <a:ext cx="8412480" cy="1737360"/>
          </a:xfrm>
          <a:prstGeom prst="rect">
            <a:avLst/>
          </a:prstGeom>
          <a:noFill/>
        </p:spPr>
        <p:txBody>
          <a:bodyPr wrap="square" lIns="0" rIns="0" tIns="0" bIns="0" anchor="b">
            <a:spAutoFit/>
          </a:bodyPr>
          <a:lstStyle/>
          <a:p>
            <a:pPr algn="l"/>
            <a:r>
              <a:rPr sz="4400" b="1">
                <a:solidFill>
                  <a:srgbClr val="FFFFFF"/>
                </a:solidFill>
                <a:latin typeface="Calibri"/>
              </a:rPr>
              <a:t>Verzuimrisico per sector en bedrijfsgrootte</a:t>
            </a:r>
          </a:p>
        </p:txBody>
      </p:sp>
      <p:sp>
        <p:nvSpPr>
          <p:cNvPr id="5" name="subtitle"/>
          <p:cNvSpPr txBox="1"/>
          <p:nvPr/>
        </p:nvSpPr>
        <p:spPr>
          <a:xfrm>
            <a:off x="731520" y="3794760"/>
            <a:ext cx="8412480" cy="822960"/>
          </a:xfrm>
          <a:prstGeom prst="rect">
            <a:avLst/>
          </a:prstGeom>
          <a:noFill/>
        </p:spPr>
        <p:txBody>
          <a:bodyPr wrap="square" lIns="0" rIns="0" tIns="0" bIns="0" anchor="t">
            <a:spAutoFit/>
          </a:bodyPr>
          <a:lstStyle/>
          <a:p>
            <a:pPr algn="l"/>
            <a:r>
              <a:rPr sz="2200" b="0">
                <a:solidFill>
                  <a:srgbClr val="BFDBD1"/>
                </a:solidFill>
                <a:latin typeface="Calibri"/>
              </a:rPr>
              <a:t>Een data- en AI-engineeringbenadering voor een inkomensverzekeraar</a:t>
            </a:r>
          </a:p>
        </p:txBody>
      </p:sp>
      <p:sp>
        <p:nvSpPr>
          <p:cNvPr id="6" name="byline"/>
          <p:cNvSpPr txBox="1"/>
          <p:nvPr/>
        </p:nvSpPr>
        <p:spPr>
          <a:xfrm>
            <a:off x="731520" y="5760720"/>
            <a:ext cx="10058400" cy="365760"/>
          </a:xfrm>
          <a:prstGeom prst="rect">
            <a:avLst/>
          </a:prstGeom>
          <a:noFill/>
        </p:spPr>
        <p:txBody>
          <a:bodyPr wrap="square" lIns="0" rIns="0" tIns="0" bIns="0" anchor="t">
            <a:spAutoFit/>
          </a:bodyPr>
          <a:lstStyle/>
          <a:p>
            <a:pPr algn="l"/>
            <a:r>
              <a:rPr sz="1400" b="0">
                <a:solidFill>
                  <a:srgbClr val="BFDBD1"/>
                </a:solidFill>
                <a:latin typeface="Calibri"/>
              </a:rPr>
              <a:t>Stefan  ·  Data and AI Engineering  ·  Erasmus Universiteit Rotterdam  ·  januari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Het vraagstuk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2</a:t>
            </a:r>
          </a:p>
        </p:txBody>
      </p:sp>
      <p:sp>
        <p:nvSpPr>
          <p:cNvPr id="5" name="intro"/>
          <p:cNvSpPr txBox="1"/>
          <p:nvPr/>
        </p:nvSpPr>
        <p:spPr>
          <a:xfrm>
            <a:off x="548640" y="1508760"/>
            <a:ext cx="4937760" cy="4389120"/>
          </a:xfrm>
          <a:prstGeom prst="rect">
            <a:avLst/>
          </a:prstGeom>
          <a:noFill/>
        </p:spPr>
        <p:txBody>
          <a:bodyPr wrap="square" lIns="0" rIns="0" tIns="0" bIns="0" anchor="t">
            <a:spAutoFit/>
          </a:bodyPr>
          <a:lstStyle/>
          <a:p>
            <a:pPr algn="l">
              <a:spcAft>
                <a:spcPts val="1000"/>
              </a:spcAft>
            </a:pPr>
            <a:r>
              <a:rPr sz="2400" b="1">
                <a:solidFill>
                  <a:srgbClr val="0B3B30"/>
                </a:solidFill>
                <a:latin typeface="Calibri"/>
              </a:rPr>
              <a:t>Schaderisico = verzuimrisico</a:t>
            </a:r>
          </a:p>
          <a:p>
            <a:pPr algn="l">
              <a:spcAft>
                <a:spcPts val="1000"/>
              </a:spcAft>
            </a:pPr>
            <a:r>
              <a:rPr sz="1600" b="0">
                <a:solidFill>
                  <a:srgbClr val="1A1A1A"/>
                </a:solidFill>
                <a:latin typeface="Calibri"/>
              </a:rPr>
              <a:t>Een inkomensverzekeraar keert uit bij ziekte en arbeidsongeschiktheid. Hoe vaak en hoe lang mensen verzuimen, verschilt sterk per sector en bedrijfsgrootte.</a:t>
            </a:r>
          </a:p>
          <a:p>
            <a:pPr algn="l">
              <a:spcAft>
                <a:spcPts val="1000"/>
              </a:spcAft>
            </a:pPr>
            <a:r>
              <a:rPr sz="2000" b="1">
                <a:solidFill>
                  <a:srgbClr val="0B3B30"/>
                </a:solidFill>
                <a:latin typeface="Calibri"/>
              </a:rPr>
              <a:t>Eigen benchmarks: niet bruikbaar</a:t>
            </a:r>
          </a:p>
          <a:p>
            <a:pPr algn="l">
              <a:spcAft>
                <a:spcPts val="1000"/>
              </a:spcAft>
            </a:pPr>
            <a:r>
              <a:rPr sz="1600" b="0">
                <a:solidFill>
                  <a:srgbClr val="1A1A1A"/>
                </a:solidFill>
                <a:latin typeface="Calibri"/>
              </a:rPr>
              <a:t>Ze zijn gebaseerd op polis- en schadegegevens, met gezondheidsgegevens van verzekerden.</a:t>
            </a:r>
          </a:p>
          <a:p>
            <a:pPr algn="l">
              <a:spcAft>
                <a:spcPts val="1000"/>
              </a:spcAft>
            </a:pPr>
            <a:r>
              <a:rPr sz="2000" b="1">
                <a:solidFill>
                  <a:srgbClr val="0C8066"/>
                </a:solidFill>
                <a:latin typeface="Calibri"/>
              </a:rPr>
              <a:t>Op één na beste bron: het CBS</a:t>
            </a:r>
          </a:p>
        </p:txBody>
      </p:sp>
      <p:sp>
        <p:nvSpPr>
          <p:cNvPr id="6" name="card Privacyvrij"/>
          <p:cNvSpPr/>
          <p:nvPr/>
        </p:nvSpPr>
        <p:spPr>
          <a:xfrm>
            <a:off x="6035040" y="150876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adge 1"/>
          <p:cNvSpPr/>
          <p:nvPr/>
        </p:nvSpPr>
        <p:spPr>
          <a:xfrm>
            <a:off x="6309360" y="189280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 Privacyvrij"/>
          <p:cNvSpPr txBox="1"/>
          <p:nvPr/>
        </p:nvSpPr>
        <p:spPr>
          <a:xfrm>
            <a:off x="7086600" y="170992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Privacyvrij</a:t>
            </a:r>
          </a:p>
          <a:p>
            <a:pPr algn="l">
              <a:spcAft>
                <a:spcPts val="200"/>
              </a:spcAft>
            </a:pPr>
            <a:r>
              <a:rPr sz="1500" b="0">
                <a:solidFill>
                  <a:srgbClr val="1A1A1A"/>
                </a:solidFill>
                <a:latin typeface="Calibri"/>
              </a:rPr>
              <a:t>Geaggregeerde openbare cijfers: vrij te combineren en te delen met werkgevers</a:t>
            </a:r>
          </a:p>
        </p:txBody>
      </p:sp>
      <p:sp>
        <p:nvSpPr>
          <p:cNvPr id="9" name="card De hele markt"/>
          <p:cNvSpPr/>
          <p:nvPr/>
        </p:nvSpPr>
        <p:spPr>
          <a:xfrm>
            <a:off x="6035040" y="301752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adge 2"/>
          <p:cNvSpPr/>
          <p:nvPr/>
        </p:nvSpPr>
        <p:spPr>
          <a:xfrm>
            <a:off x="6309360" y="3401568"/>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1" name="text De hele markt"/>
          <p:cNvSpPr txBox="1"/>
          <p:nvPr/>
        </p:nvSpPr>
        <p:spPr>
          <a:xfrm>
            <a:off x="7086600" y="321868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De hele markt</a:t>
            </a:r>
          </a:p>
          <a:p>
            <a:pPr algn="l">
              <a:spcAft>
                <a:spcPts val="200"/>
              </a:spcAft>
            </a:pPr>
            <a:r>
              <a:rPr sz="1500" b="0">
                <a:solidFill>
                  <a:srgbClr val="1A1A1A"/>
                </a:solidFill>
                <a:latin typeface="Calibri"/>
              </a:rPr>
              <a:t>Ook sectoren waar de verzekeraar weinig polissen heeft</a:t>
            </a:r>
          </a:p>
        </p:txBody>
      </p:sp>
      <p:sp>
        <p:nvSpPr>
          <p:cNvPr id="12" name="card Onafhankelijk"/>
          <p:cNvSpPr/>
          <p:nvPr/>
        </p:nvSpPr>
        <p:spPr>
          <a:xfrm>
            <a:off x="6035040" y="4526279"/>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3"/>
          <p:cNvSpPr/>
          <p:nvPr/>
        </p:nvSpPr>
        <p:spPr>
          <a:xfrm>
            <a:off x="6309360" y="491032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 Onafhankelijk"/>
          <p:cNvSpPr txBox="1"/>
          <p:nvPr/>
        </p:nvSpPr>
        <p:spPr>
          <a:xfrm>
            <a:off x="7086600" y="4727447"/>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Onafhankelijk</a:t>
            </a:r>
          </a:p>
          <a:p>
            <a:pPr algn="l">
              <a:spcAft>
                <a:spcPts val="200"/>
              </a:spcAft>
            </a:pPr>
            <a:r>
              <a:rPr sz="1500" b="0">
                <a:solidFill>
                  <a:srgbClr val="1A1A1A"/>
                </a:solidFill>
                <a:latin typeface="Calibri"/>
              </a:rPr>
              <a:t>Een externe referentie naast de eigen portefeuille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vraag</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3</a:t>
            </a:r>
          </a:p>
        </p:txBody>
      </p:sp>
      <p:sp>
        <p:nvSpPr>
          <p:cNvPr id="5" name="main question"/>
          <p:cNvSpPr/>
          <p:nvPr/>
        </p:nvSpPr>
        <p:spPr>
          <a:xfrm>
            <a:off x="548640" y="1463040"/>
            <a:ext cx="11094415" cy="1143000"/>
          </a:xfrm>
          <a:prstGeom prst="roundRect">
            <a:avLst>
              <a:gd name="adj" fmla="val 8000"/>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ain question text"/>
          <p:cNvSpPr txBox="1"/>
          <p:nvPr/>
        </p:nvSpPr>
        <p:spPr>
          <a:xfrm>
            <a:off x="914400" y="1463040"/>
            <a:ext cx="10362895" cy="1143000"/>
          </a:xfrm>
          <a:prstGeom prst="rect">
            <a:avLst/>
          </a:prstGeom>
          <a:noFill/>
        </p:spPr>
        <p:txBody>
          <a:bodyPr wrap="square" lIns="0" rIns="0" tIns="0" bIns="0" anchor="ctr">
            <a:spAutoFit/>
          </a:bodyPr>
          <a:lstStyle/>
          <a:p>
            <a:pPr algn="l"/>
            <a:r>
              <a:rPr sz="2600" b="1">
                <a:solidFill>
                  <a:srgbClr val="FFFFFF"/>
                </a:solidFill>
                <a:latin typeface="Calibri"/>
              </a:rPr>
              <a:t>Welke bedrijfskenmerken (sector en grootteklasse) gaan samen met hoger ziekteverzuim?</a:t>
            </a:r>
          </a:p>
        </p:txBody>
      </p:sp>
      <p:sp>
        <p:nvSpPr>
          <p:cNvPr id="7" name="sub-question 1"/>
          <p:cNvSpPr/>
          <p:nvPr/>
        </p:nvSpPr>
        <p:spPr>
          <a:xfrm>
            <a:off x="548640"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1"/>
          <p:cNvSpPr/>
          <p:nvPr/>
        </p:nvSpPr>
        <p:spPr>
          <a:xfrm>
            <a:off x="82295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9" name="sub-question text 1"/>
          <p:cNvSpPr txBox="1"/>
          <p:nvPr/>
        </p:nvSpPr>
        <p:spPr>
          <a:xfrm>
            <a:off x="150876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Hoogste en laagste sectoren?</a:t>
            </a:r>
          </a:p>
        </p:txBody>
      </p:sp>
      <p:sp>
        <p:nvSpPr>
          <p:cNvPr id="10" name="sub-question 2"/>
          <p:cNvSpPr/>
          <p:nvPr/>
        </p:nvSpPr>
        <p:spPr>
          <a:xfrm>
            <a:off x="429767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dge 2"/>
          <p:cNvSpPr/>
          <p:nvPr/>
        </p:nvSpPr>
        <p:spPr>
          <a:xfrm>
            <a:off x="457199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sub-question text 2"/>
          <p:cNvSpPr txBox="1"/>
          <p:nvPr/>
        </p:nvSpPr>
        <p:spPr>
          <a:xfrm>
            <a:off x="5257799"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Stijgt het verzuim met de grootte?</a:t>
            </a:r>
          </a:p>
        </p:txBody>
      </p:sp>
      <p:sp>
        <p:nvSpPr>
          <p:cNvPr id="13" name="sub-question 3"/>
          <p:cNvSpPr/>
          <p:nvPr/>
        </p:nvSpPr>
        <p:spPr>
          <a:xfrm>
            <a:off x="804671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adge 3"/>
          <p:cNvSpPr/>
          <p:nvPr/>
        </p:nvSpPr>
        <p:spPr>
          <a:xfrm>
            <a:off x="8321040"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5" name="sub-question text 3"/>
          <p:cNvSpPr txBox="1"/>
          <p:nvPr/>
        </p:nvSpPr>
        <p:spPr>
          <a:xfrm>
            <a:off x="900684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Stabiel of stijgend?</a:t>
            </a:r>
          </a:p>
        </p:txBody>
      </p:sp>
      <p:sp>
        <p:nvSpPr>
          <p:cNvPr id="16" name="sub-question 4"/>
          <p:cNvSpPr/>
          <p:nvPr/>
        </p:nvSpPr>
        <p:spPr>
          <a:xfrm>
            <a:off x="548640"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adge 4"/>
          <p:cNvSpPr/>
          <p:nvPr/>
        </p:nvSpPr>
        <p:spPr>
          <a:xfrm>
            <a:off x="82295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sub-question text 4"/>
          <p:cNvSpPr txBox="1"/>
          <p:nvPr/>
        </p:nvSpPr>
        <p:spPr>
          <a:xfrm>
            <a:off x="150876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Wat zit erachter?</a:t>
            </a:r>
          </a:p>
        </p:txBody>
      </p:sp>
      <p:sp>
        <p:nvSpPr>
          <p:cNvPr id="19" name="sub-question 5"/>
          <p:cNvSpPr/>
          <p:nvPr/>
        </p:nvSpPr>
        <p:spPr>
          <a:xfrm>
            <a:off x="429767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dge 5"/>
          <p:cNvSpPr/>
          <p:nvPr/>
        </p:nvSpPr>
        <p:spPr>
          <a:xfrm>
            <a:off x="457199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1" name="sub-question text 5"/>
          <p:cNvSpPr txBox="1"/>
          <p:nvPr/>
        </p:nvSpPr>
        <p:spPr>
          <a:xfrm>
            <a:off x="5257799"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Echt verschil of toeval?</a:t>
            </a:r>
          </a:p>
        </p:txBody>
      </p:sp>
      <p:sp>
        <p:nvSpPr>
          <p:cNvPr id="22" name="sub-question 6"/>
          <p:cNvSpPr/>
          <p:nvPr/>
        </p:nvSpPr>
        <p:spPr>
          <a:xfrm>
            <a:off x="804671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dge 6"/>
          <p:cNvSpPr/>
          <p:nvPr/>
        </p:nvSpPr>
        <p:spPr>
          <a:xfrm>
            <a:off x="8321040"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4" name="sub-question text 6"/>
          <p:cNvSpPr txBox="1"/>
          <p:nvPr/>
        </p:nvSpPr>
        <p:spPr>
          <a:xfrm>
            <a:off x="900684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Hoeveel bedrijven betreft het?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aanpak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4</a:t>
            </a:r>
          </a:p>
        </p:txBody>
      </p:sp>
      <p:pic>
        <p:nvPicPr>
          <p:cNvPr id="5" name="canvas" descr="canvas.png"/>
          <p:cNvPicPr>
            <a:picLocks noChangeAspect="1"/>
          </p:cNvPicPr>
          <p:nvPr/>
        </p:nvPicPr>
        <p:blipFill>
          <a:blip r:embed="rId2"/>
          <a:stretch>
            <a:fillRect/>
          </a:stretch>
        </p:blipFill>
        <p:spPr>
          <a:xfrm>
            <a:off x="548640" y="1280160"/>
            <a:ext cx="5559005" cy="5074920"/>
          </a:xfrm>
          <a:prstGeom prst="rect">
            <a:avLst/>
          </a:prstGeom>
        </p:spPr>
      </p:pic>
      <p:sp>
        <p:nvSpPr>
          <p:cNvPr id="6" name="badge 1"/>
          <p:cNvSpPr/>
          <p:nvPr/>
        </p:nvSpPr>
        <p:spPr>
          <a:xfrm>
            <a:off x="6564845" y="1508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approach Automatisch"/>
          <p:cNvSpPr txBox="1"/>
          <p:nvPr/>
        </p:nvSpPr>
        <p:spPr>
          <a:xfrm>
            <a:off x="7296365" y="14630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Automatisch</a:t>
            </a:r>
          </a:p>
          <a:p>
            <a:pPr algn="l">
              <a:spcAft>
                <a:spcPts val="200"/>
              </a:spcAft>
            </a:pPr>
            <a:r>
              <a:rPr sz="1500" b="0">
                <a:solidFill>
                  <a:srgbClr val="1A1A1A"/>
                </a:solidFill>
                <a:latin typeface="Calibri"/>
              </a:rPr>
              <a:t>Maandelijks ophalen, alleen wat nieuw is; Dagster bouwt silver en gold daarna</a:t>
            </a:r>
          </a:p>
        </p:txBody>
      </p:sp>
      <p:sp>
        <p:nvSpPr>
          <p:cNvPr id="8" name="badge 2"/>
          <p:cNvSpPr/>
          <p:nvPr/>
        </p:nvSpPr>
        <p:spPr>
          <a:xfrm>
            <a:off x="6564845" y="31089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approach Gecontroleerd"/>
          <p:cNvSpPr txBox="1"/>
          <p:nvPr/>
        </p:nvSpPr>
        <p:spPr>
          <a:xfrm>
            <a:off x="7296365" y="30632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Gecontroleerd</a:t>
            </a:r>
          </a:p>
          <a:p>
            <a:pPr algn="l">
              <a:spcAft>
                <a:spcPts val="200"/>
              </a:spcAft>
            </a:pPr>
            <a:r>
              <a:rPr sz="1500" b="0">
                <a:solidFill>
                  <a:srgbClr val="1A1A1A"/>
                </a:solidFill>
                <a:latin typeface="Calibri"/>
              </a:rPr>
              <a:t>Elke batch vóór het wegschrijven, elke laag vóór de volgende; fouten in quarantaine</a:t>
            </a:r>
          </a:p>
        </p:txBody>
      </p:sp>
      <p:sp>
        <p:nvSpPr>
          <p:cNvPr id="10" name="badge 3"/>
          <p:cNvSpPr/>
          <p:nvPr/>
        </p:nvSpPr>
        <p:spPr>
          <a:xfrm>
            <a:off x="6564845" y="4709159"/>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1" name="approach Herleidbaar"/>
          <p:cNvSpPr txBox="1"/>
          <p:nvPr/>
        </p:nvSpPr>
        <p:spPr>
          <a:xfrm>
            <a:off x="7296365" y="46634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Herleidbaar</a:t>
            </a:r>
          </a:p>
          <a:p>
            <a:pPr algn="l">
              <a:spcAft>
                <a:spcPts val="200"/>
              </a:spcAft>
            </a:pPr>
            <a:r>
              <a:rPr sz="1500" b="0">
                <a:solidFill>
                  <a:srgbClr val="1A1A1A"/>
                </a:solidFill>
                <a:latin typeface="Calibri"/>
              </a:rPr>
              <a:t>Elk getal terug te volgen naar het bronveld; elke run in een runlog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Keuzes die ertoe doen</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5</a:t>
            </a:r>
          </a:p>
        </p:txBody>
      </p:sp>
      <p:sp>
        <p:nvSpPr>
          <p:cNvPr id="5" name="choice 1"/>
          <p:cNvSpPr/>
          <p:nvPr/>
        </p:nvSpPr>
        <p:spPr>
          <a:xfrm>
            <a:off x="54864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adge 1"/>
          <p:cNvSpPr/>
          <p:nvPr/>
        </p:nvSpPr>
        <p:spPr>
          <a:xfrm>
            <a:off x="86868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choice text 1"/>
          <p:cNvSpPr txBox="1"/>
          <p:nvPr/>
        </p:nvSpPr>
        <p:spPr>
          <a:xfrm>
            <a:off x="160020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Delta Lake, geen Spark</a:t>
            </a:r>
          </a:p>
          <a:p>
            <a:pPr algn="l">
              <a:spcAft>
                <a:spcPts val="600"/>
              </a:spcAft>
            </a:pPr>
            <a:r>
              <a:rPr sz="1600" b="0">
                <a:solidFill>
                  <a:srgbClr val="1A1A1A"/>
                </a:solidFill>
                <a:latin typeface="Calibri"/>
              </a:rPr>
              <a:t>120 MB past op één machine; Spark zou alleen opstarttijd en geheugen kosten</a:t>
            </a:r>
          </a:p>
        </p:txBody>
      </p:sp>
      <p:sp>
        <p:nvSpPr>
          <p:cNvPr id="8" name="choice 2"/>
          <p:cNvSpPr/>
          <p:nvPr/>
        </p:nvSpPr>
        <p:spPr>
          <a:xfrm>
            <a:off x="617220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2"/>
          <p:cNvSpPr/>
          <p:nvPr/>
        </p:nvSpPr>
        <p:spPr>
          <a:xfrm>
            <a:off x="649224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choice text 2"/>
          <p:cNvSpPr txBox="1"/>
          <p:nvPr/>
        </p:nvSpPr>
        <p:spPr>
          <a:xfrm>
            <a:off x="722376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White box, geen machine learning</a:t>
            </a:r>
          </a:p>
          <a:p>
            <a:pPr algn="l">
              <a:spcAft>
                <a:spcPts val="600"/>
              </a:spcAft>
            </a:pPr>
            <a:r>
              <a:rPr sz="1600" b="0">
                <a:solidFill>
                  <a:srgbClr val="1A1A1A"/>
                </a:solidFill>
                <a:latin typeface="Calibri"/>
              </a:rPr>
              <a:t>Een beschrijvende vraag, 26 kwartalen, en elk getal moet uitlegbaar zijn</a:t>
            </a:r>
          </a:p>
        </p:txBody>
      </p:sp>
      <p:sp>
        <p:nvSpPr>
          <p:cNvPr id="11" name="choice 3"/>
          <p:cNvSpPr/>
          <p:nvPr/>
        </p:nvSpPr>
        <p:spPr>
          <a:xfrm>
            <a:off x="54864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adge 3"/>
          <p:cNvSpPr/>
          <p:nvPr/>
        </p:nvSpPr>
        <p:spPr>
          <a:xfrm>
            <a:off x="86868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3" name="choice text 3"/>
          <p:cNvSpPr txBox="1"/>
          <p:nvPr/>
        </p:nvSpPr>
        <p:spPr>
          <a:xfrm>
            <a:off x="160020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Markeren, niet gokken</a:t>
            </a:r>
          </a:p>
          <a:p>
            <a:pPr algn="l">
              <a:spcAft>
                <a:spcPts val="600"/>
              </a:spcAft>
            </a:pPr>
            <a:r>
              <a:rPr sz="1600" b="0">
                <a:solidFill>
                  <a:srgbClr val="1A1A1A"/>
                </a:solidFill>
                <a:latin typeface="Calibri"/>
              </a:rPr>
              <a:t>Twijfelgevallen krijgen een vlag; de originele waarde blijft staan</a:t>
            </a:r>
          </a:p>
        </p:txBody>
      </p:sp>
      <p:sp>
        <p:nvSpPr>
          <p:cNvPr id="14" name="choice 4"/>
          <p:cNvSpPr/>
          <p:nvPr/>
        </p:nvSpPr>
        <p:spPr>
          <a:xfrm>
            <a:off x="617220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adge 4"/>
          <p:cNvSpPr/>
          <p:nvPr/>
        </p:nvSpPr>
        <p:spPr>
          <a:xfrm>
            <a:off x="649224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6" name="choice text 4"/>
          <p:cNvSpPr txBox="1"/>
          <p:nvPr/>
        </p:nvSpPr>
        <p:spPr>
          <a:xfrm>
            <a:off x="722376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Incrementeel en meetbaar</a:t>
            </a:r>
          </a:p>
          <a:p>
            <a:pPr algn="l">
              <a:spcAft>
                <a:spcPts val="600"/>
              </a:spcAft>
            </a:pPr>
            <a:r>
              <a:rPr sz="1600" b="0">
                <a:solidFill>
                  <a:srgbClr val="1A1A1A"/>
                </a:solidFill>
                <a:latin typeface="Calibri"/>
              </a:rPr>
              <a:t>KVK groeit per maand; geheugen voor een herbouw van 3,2 naar 1,65 GB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Resultaat: waar zit het risico?</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6</a:t>
            </a:r>
          </a:p>
        </p:txBody>
      </p:sp>
      <p:graphicFrame>
        <p:nvGraphicFramePr>
          <p:cNvPr id="5" name="chart relative risk"/>
          <p:cNvGraphicFramePr>
            <a:graphicFrameLocks noGrp="1"/>
          </p:cNvGraphicFramePr>
          <p:nvPr/>
        </p:nvGraphicFramePr>
        <p:xfrm>
          <a:off x="548640" y="1325880"/>
          <a:ext cx="7223760" cy="4983480"/>
        </p:xfrm>
        <a:graphic>
          <a:graphicData uri="http://schemas.openxmlformats.org/drawingml/2006/chart">
            <c:chart xmlns:c="http://schemas.openxmlformats.org/drawingml/2006/chart" r:id="rId2"/>
          </a:graphicData>
        </a:graphic>
      </p:graphicFrame>
      <p:sp>
        <p:nvSpPr>
          <p:cNvPr id="6" name="stat 1"/>
          <p:cNvSpPr txBox="1"/>
          <p:nvPr/>
        </p:nvSpPr>
        <p:spPr>
          <a:xfrm>
            <a:off x="8183879" y="1417320"/>
            <a:ext cx="3474720" cy="685800"/>
          </a:xfrm>
          <a:prstGeom prst="rect">
            <a:avLst/>
          </a:prstGeom>
          <a:noFill/>
        </p:spPr>
        <p:txBody>
          <a:bodyPr wrap="square" lIns="0" rIns="0" tIns="0" bIns="0" anchor="t">
            <a:spAutoFit/>
          </a:bodyPr>
          <a:lstStyle/>
          <a:p>
            <a:pPr algn="l"/>
            <a:r>
              <a:rPr sz="4000" b="1">
                <a:solidFill>
                  <a:srgbClr val="C0392B"/>
                </a:solidFill>
                <a:latin typeface="Calibri"/>
              </a:rPr>
              <a:t>1,40</a:t>
            </a:r>
          </a:p>
        </p:txBody>
      </p:sp>
      <p:sp>
        <p:nvSpPr>
          <p:cNvPr id="7" name="stat label 1"/>
          <p:cNvSpPr txBox="1"/>
          <p:nvPr/>
        </p:nvSpPr>
        <p:spPr>
          <a:xfrm>
            <a:off x="8183879" y="2130552"/>
            <a:ext cx="3474720" cy="640080"/>
          </a:xfrm>
          <a:prstGeom prst="rect">
            <a:avLst/>
          </a:prstGeom>
          <a:noFill/>
        </p:spPr>
        <p:txBody>
          <a:bodyPr wrap="square" lIns="0" rIns="0" tIns="0" bIns="0" anchor="t">
            <a:spAutoFit/>
          </a:bodyPr>
          <a:lstStyle/>
          <a:p>
            <a:pPr algn="l"/>
            <a:r>
              <a:rPr sz="1400" b="0">
                <a:solidFill>
                  <a:srgbClr val="1A1A1A"/>
                </a:solidFill>
                <a:latin typeface="Calibri"/>
              </a:rPr>
              <a:t>Zorg en welzijn: 40% meer verzuim dan landelijk</a:t>
            </a:r>
          </a:p>
        </p:txBody>
      </p:sp>
      <p:sp>
        <p:nvSpPr>
          <p:cNvPr id="8" name="stat 2"/>
          <p:cNvSpPr txBox="1"/>
          <p:nvPr/>
        </p:nvSpPr>
        <p:spPr>
          <a:xfrm>
            <a:off x="8183879" y="2880360"/>
            <a:ext cx="3474720" cy="685800"/>
          </a:xfrm>
          <a:prstGeom prst="rect">
            <a:avLst/>
          </a:prstGeom>
          <a:noFill/>
        </p:spPr>
        <p:txBody>
          <a:bodyPr wrap="square" lIns="0" rIns="0" tIns="0" bIns="0" anchor="t">
            <a:spAutoFit/>
          </a:bodyPr>
          <a:lstStyle/>
          <a:p>
            <a:pPr algn="l"/>
            <a:r>
              <a:rPr sz="4000" b="1">
                <a:solidFill>
                  <a:srgbClr val="C0392B"/>
                </a:solidFill>
                <a:latin typeface="Calibri"/>
              </a:rPr>
              <a:t>5 van 19</a:t>
            </a:r>
          </a:p>
        </p:txBody>
      </p:sp>
      <p:sp>
        <p:nvSpPr>
          <p:cNvPr id="9" name="stat label 2"/>
          <p:cNvSpPr txBox="1"/>
          <p:nvPr/>
        </p:nvSpPr>
        <p:spPr>
          <a:xfrm>
            <a:off x="8183879" y="3593592"/>
            <a:ext cx="3474720" cy="640080"/>
          </a:xfrm>
          <a:prstGeom prst="rect">
            <a:avLst/>
          </a:prstGeom>
          <a:noFill/>
        </p:spPr>
        <p:txBody>
          <a:bodyPr wrap="square" lIns="0" rIns="0" tIns="0" bIns="0" anchor="t">
            <a:spAutoFit/>
          </a:bodyPr>
          <a:lstStyle/>
          <a:p>
            <a:pPr algn="l"/>
            <a:r>
              <a:rPr sz="1400" b="0">
                <a:solidFill>
                  <a:srgbClr val="1A1A1A"/>
                </a:solidFill>
                <a:latin typeface="Calibri"/>
              </a:rPr>
              <a:t>secties in álle acht kwartalen boven landelijk</a:t>
            </a:r>
          </a:p>
        </p:txBody>
      </p:sp>
      <p:sp>
        <p:nvSpPr>
          <p:cNvPr id="10" name="stat 3"/>
          <p:cNvSpPr txBox="1"/>
          <p:nvPr/>
        </p:nvSpPr>
        <p:spPr>
          <a:xfrm>
            <a:off x="8183879" y="4343400"/>
            <a:ext cx="3474720" cy="685800"/>
          </a:xfrm>
          <a:prstGeom prst="rect">
            <a:avLst/>
          </a:prstGeom>
          <a:noFill/>
        </p:spPr>
        <p:txBody>
          <a:bodyPr wrap="square" lIns="0" rIns="0" tIns="0" bIns="0" anchor="t">
            <a:spAutoFit/>
          </a:bodyPr>
          <a:lstStyle/>
          <a:p>
            <a:pPr algn="l"/>
            <a:r>
              <a:rPr sz="4000" b="1">
                <a:solidFill>
                  <a:srgbClr val="0C8066"/>
                </a:solidFill>
                <a:latin typeface="Calibri"/>
              </a:rPr>
              <a:t>0,61</a:t>
            </a:r>
          </a:p>
        </p:txBody>
      </p:sp>
      <p:sp>
        <p:nvSpPr>
          <p:cNvPr id="11" name="stat label 3"/>
          <p:cNvSpPr txBox="1"/>
          <p:nvPr/>
        </p:nvSpPr>
        <p:spPr>
          <a:xfrm>
            <a:off x="8183879" y="5056632"/>
            <a:ext cx="3474720" cy="640080"/>
          </a:xfrm>
          <a:prstGeom prst="rect">
            <a:avLst/>
          </a:prstGeom>
          <a:noFill/>
        </p:spPr>
        <p:txBody>
          <a:bodyPr wrap="square" lIns="0" rIns="0" tIns="0" bIns="0" anchor="t">
            <a:spAutoFit/>
          </a:bodyPr>
          <a:lstStyle/>
          <a:p>
            <a:pPr algn="l"/>
            <a:r>
              <a:rPr sz="1400" b="0">
                <a:solidFill>
                  <a:srgbClr val="1A1A1A"/>
                </a:solidFill>
                <a:latin typeface="Calibri"/>
              </a:rPr>
              <a:t>Horeca en landbouw: ruim een derde minder</a:t>
            </a:r>
          </a:p>
        </p:txBody>
      </p:sp>
      <p:sp>
        <p:nvSpPr>
          <p:cNvPr id="12" name="chart note"/>
          <p:cNvSpPr txBox="1"/>
          <p:nvPr/>
        </p:nvSpPr>
        <p:spPr>
          <a:xfrm>
            <a:off x="8183879" y="5806440"/>
            <a:ext cx="3474720" cy="457200"/>
          </a:xfrm>
          <a:prstGeom prst="rect">
            <a:avLst/>
          </a:prstGeom>
          <a:noFill/>
        </p:spPr>
        <p:txBody>
          <a:bodyPr wrap="square" lIns="0" rIns="0" tIns="0" bIns="0" anchor="t">
            <a:spAutoFit/>
          </a:bodyPr>
          <a:lstStyle/>
          <a:p>
            <a:pPr algn="l"/>
            <a:r>
              <a:rPr sz="1100" b="0">
                <a:solidFill>
                  <a:srgbClr val="5F6B66"/>
                </a:solidFill>
                <a:latin typeface="Calibri"/>
              </a:rPr>
              <a:t>Relatief risico, 4 kwartalen t/m 2026 Q2; 1,00 = landelijk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Wat zit erachter, en hoe zeker is het?</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7</a:t>
            </a:r>
          </a:p>
        </p:txBody>
      </p:sp>
      <p:sp>
        <p:nvSpPr>
          <p:cNvPr id="5" name="subtitle survey"/>
          <p:cNvSpPr txBox="1"/>
          <p:nvPr/>
        </p:nvSpPr>
        <p:spPr>
          <a:xfrm>
            <a:off x="548640" y="1325880"/>
            <a:ext cx="7315200" cy="411480"/>
          </a:xfrm>
          <a:prstGeom prst="rect">
            <a:avLst/>
          </a:prstGeom>
          <a:noFill/>
        </p:spPr>
        <p:txBody>
          <a:bodyPr wrap="square" lIns="0" rIns="0" tIns="0" bIns="0" anchor="t">
            <a:spAutoFit/>
          </a:bodyPr>
          <a:lstStyle/>
          <a:p>
            <a:pPr algn="l"/>
            <a:r>
              <a:rPr sz="1600" b="0">
                <a:solidFill>
                  <a:srgbClr val="5F6B66"/>
                </a:solidFill>
                <a:latin typeface="Calibri"/>
              </a:rPr>
              <a:t>Zorg en welzijn, jaarenquête 2025, tegenover landelijk</a:t>
            </a:r>
          </a:p>
        </p:txBody>
      </p:sp>
      <p:sp>
        <p:nvSpPr>
          <p:cNvPr id="6" name="survey stat 1"/>
          <p:cNvSpPr/>
          <p:nvPr/>
        </p:nvSpPr>
        <p:spPr>
          <a:xfrm>
            <a:off x="548640"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urvey big 1"/>
          <p:cNvSpPr txBox="1"/>
          <p:nvPr/>
        </p:nvSpPr>
        <p:spPr>
          <a:xfrm>
            <a:off x="868680"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54,3%</a:t>
            </a:r>
          </a:p>
        </p:txBody>
      </p:sp>
      <p:sp>
        <p:nvSpPr>
          <p:cNvPr id="8" name="survey label 1"/>
          <p:cNvSpPr txBox="1"/>
          <p:nvPr/>
        </p:nvSpPr>
        <p:spPr>
          <a:xfrm>
            <a:off x="868680"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de werknemers verzuimde</a:t>
            </a:r>
          </a:p>
        </p:txBody>
      </p:sp>
      <p:sp>
        <p:nvSpPr>
          <p:cNvPr id="9" name="survey national 1"/>
          <p:cNvSpPr txBox="1"/>
          <p:nvPr/>
        </p:nvSpPr>
        <p:spPr>
          <a:xfrm>
            <a:off x="868680"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50,7%</a:t>
            </a:r>
          </a:p>
        </p:txBody>
      </p:sp>
      <p:sp>
        <p:nvSpPr>
          <p:cNvPr id="10" name="survey stat 2"/>
          <p:cNvSpPr/>
          <p:nvPr/>
        </p:nvSpPr>
        <p:spPr>
          <a:xfrm>
            <a:off x="429767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urvey big 2"/>
          <p:cNvSpPr txBox="1"/>
          <p:nvPr/>
        </p:nvSpPr>
        <p:spPr>
          <a:xfrm>
            <a:off x="461771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19,4</a:t>
            </a:r>
          </a:p>
        </p:txBody>
      </p:sp>
      <p:sp>
        <p:nvSpPr>
          <p:cNvPr id="12" name="survey label 2"/>
          <p:cNvSpPr txBox="1"/>
          <p:nvPr/>
        </p:nvSpPr>
        <p:spPr>
          <a:xfrm>
            <a:off x="461771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verzuimdagen per werknemer die verzuimde</a:t>
            </a:r>
          </a:p>
        </p:txBody>
      </p:sp>
      <p:sp>
        <p:nvSpPr>
          <p:cNvPr id="13" name="survey national 2"/>
          <p:cNvSpPr txBox="1"/>
          <p:nvPr/>
        </p:nvSpPr>
        <p:spPr>
          <a:xfrm>
            <a:off x="461771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17,3</a:t>
            </a:r>
          </a:p>
        </p:txBody>
      </p:sp>
      <p:sp>
        <p:nvSpPr>
          <p:cNvPr id="14" name="survey stat 3"/>
          <p:cNvSpPr/>
          <p:nvPr/>
        </p:nvSpPr>
        <p:spPr>
          <a:xfrm>
            <a:off x="804671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urvey big 3"/>
          <p:cNvSpPr txBox="1"/>
          <p:nvPr/>
        </p:nvSpPr>
        <p:spPr>
          <a:xfrm>
            <a:off x="836675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28,7%</a:t>
            </a:r>
          </a:p>
        </p:txBody>
      </p:sp>
      <p:sp>
        <p:nvSpPr>
          <p:cNvPr id="16" name="survey label 3"/>
          <p:cNvSpPr txBox="1"/>
          <p:nvPr/>
        </p:nvSpPr>
        <p:spPr>
          <a:xfrm>
            <a:off x="836675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het werkgerelateerde verzuim komt door besmetting op het werk</a:t>
            </a:r>
          </a:p>
        </p:txBody>
      </p:sp>
      <p:sp>
        <p:nvSpPr>
          <p:cNvPr id="17" name="survey national 3"/>
          <p:cNvSpPr txBox="1"/>
          <p:nvPr/>
        </p:nvSpPr>
        <p:spPr>
          <a:xfrm>
            <a:off x="836675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14,0%</a:t>
            </a:r>
          </a:p>
        </p:txBody>
      </p:sp>
      <p:sp>
        <p:nvSpPr>
          <p:cNvPr id="18" name="size card"/>
          <p:cNvSpPr/>
          <p:nvPr/>
        </p:nvSpPr>
        <p:spPr>
          <a:xfrm>
            <a:off x="548640" y="4434840"/>
            <a:ext cx="548640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dge ↗"/>
          <p:cNvSpPr/>
          <p:nvPr/>
        </p:nvSpPr>
        <p:spPr>
          <a:xfrm>
            <a:off x="777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20" name="size text"/>
          <p:cNvSpPr txBox="1"/>
          <p:nvPr/>
        </p:nvSpPr>
        <p:spPr>
          <a:xfrm>
            <a:off x="1508760" y="4617720"/>
            <a:ext cx="438912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Grootte telt</a:t>
            </a:r>
          </a:p>
          <a:p>
            <a:pPr algn="l">
              <a:spcAft>
                <a:spcPts val="400"/>
              </a:spcAft>
            </a:pPr>
            <a:r>
              <a:rPr sz="1500" b="0">
                <a:solidFill>
                  <a:srgbClr val="1A1A1A"/>
                </a:solidFill>
                <a:latin typeface="Calibri"/>
              </a:rPr>
              <a:t>Klein 0,48 van landelijk, groot 1,16. Het aandeel dat verzuimt stijgt van 34% (1–4 werknemers) tot 53% (50+).</a:t>
            </a:r>
          </a:p>
        </p:txBody>
      </p:sp>
      <p:sp>
        <p:nvSpPr>
          <p:cNvPr id="21" name="certainty card"/>
          <p:cNvSpPr/>
          <p:nvPr/>
        </p:nvSpPr>
        <p:spPr>
          <a:xfrm>
            <a:off x="6263640" y="4434840"/>
            <a:ext cx="534924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dge ?"/>
          <p:cNvSpPr/>
          <p:nvPr/>
        </p:nvSpPr>
        <p:spPr>
          <a:xfrm>
            <a:off x="6492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a:t>
            </a:r>
          </a:p>
        </p:txBody>
      </p:sp>
      <p:sp>
        <p:nvSpPr>
          <p:cNvPr id="23" name="certainty text"/>
          <p:cNvSpPr txBox="1"/>
          <p:nvPr/>
        </p:nvSpPr>
        <p:spPr>
          <a:xfrm>
            <a:off x="7223760" y="4617720"/>
            <a:ext cx="420624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Niet elk verschil is echt</a:t>
            </a:r>
          </a:p>
          <a:p>
            <a:pPr algn="l">
              <a:spcAft>
                <a:spcPts val="400"/>
              </a:spcAft>
            </a:pPr>
            <a:r>
              <a:rPr sz="1500" b="0">
                <a:solidFill>
                  <a:srgbClr val="1A1A1A"/>
                </a:solidFill>
                <a:latin typeface="Calibri"/>
              </a:rPr>
              <a:t>42 van de 65 enquêtematen voor de zorg liggen binnen de foutmarge. Samenhang, geen oorzaak.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1097280"/>
            <a:ext cx="5486400" cy="1280160"/>
          </a:xfrm>
          <a:prstGeom prst="rect">
            <a:avLst/>
          </a:prstGeom>
          <a:noFill/>
        </p:spPr>
        <p:txBody>
          <a:bodyPr wrap="square" lIns="0" rIns="0" tIns="0" bIns="0" anchor="t">
            <a:spAutoFit/>
          </a:bodyPr>
          <a:lstStyle/>
          <a:p>
            <a:pPr algn="l"/>
            <a:r>
              <a:rPr sz="6000" b="1">
                <a:solidFill>
                  <a:srgbClr val="FFFFFF"/>
                </a:solidFill>
                <a:latin typeface="Calibri"/>
              </a:rPr>
              <a:t>Demo</a:t>
            </a:r>
          </a:p>
        </p:txBody>
      </p:sp>
      <p:sp>
        <p:nvSpPr>
          <p:cNvPr id="3" name="badge 1"/>
          <p:cNvSpPr/>
          <p:nvPr/>
        </p:nvSpPr>
        <p:spPr>
          <a:xfrm>
            <a:off x="731520" y="2651760"/>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4" name="demo step 1"/>
          <p:cNvSpPr txBox="1"/>
          <p:nvPr/>
        </p:nvSpPr>
        <p:spPr>
          <a:xfrm>
            <a:off x="1417320" y="2670048"/>
            <a:ext cx="8229600" cy="457200"/>
          </a:xfrm>
          <a:prstGeom prst="rect">
            <a:avLst/>
          </a:prstGeom>
          <a:noFill/>
        </p:spPr>
        <p:txBody>
          <a:bodyPr wrap="square" lIns="0" rIns="0" tIns="0" bIns="0" anchor="ctr">
            <a:spAutoFit/>
          </a:bodyPr>
          <a:lstStyle/>
          <a:p>
            <a:pPr algn="l"/>
            <a:r>
              <a:rPr sz="2000" b="0">
                <a:solidFill>
                  <a:srgbClr val="FFFFFF"/>
                </a:solidFill>
                <a:latin typeface="Calibri"/>
              </a:rPr>
              <a:t>Dashboard: de risico-index</a:t>
            </a:r>
          </a:p>
        </p:txBody>
      </p:sp>
      <p:sp>
        <p:nvSpPr>
          <p:cNvPr id="5" name="badge 2"/>
          <p:cNvSpPr/>
          <p:nvPr/>
        </p:nvSpPr>
        <p:spPr>
          <a:xfrm>
            <a:off x="731520" y="3364991"/>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6" name="demo step 2"/>
          <p:cNvSpPr txBox="1"/>
          <p:nvPr/>
        </p:nvSpPr>
        <p:spPr>
          <a:xfrm>
            <a:off x="1417320" y="3383279"/>
            <a:ext cx="8229600" cy="457200"/>
          </a:xfrm>
          <a:prstGeom prst="rect">
            <a:avLst/>
          </a:prstGeom>
          <a:noFill/>
        </p:spPr>
        <p:txBody>
          <a:bodyPr wrap="square" lIns="0" rIns="0" tIns="0" bIns="0" anchor="ctr">
            <a:spAutoFit/>
          </a:bodyPr>
          <a:lstStyle/>
          <a:p>
            <a:pPr algn="l"/>
            <a:r>
              <a:rPr sz="2000" b="0">
                <a:solidFill>
                  <a:srgbClr val="FFFFFF"/>
                </a:solidFill>
                <a:latin typeface="Calibri"/>
              </a:rPr>
              <a:t>Eén sector uitgelegd en over de tijd</a:t>
            </a:r>
          </a:p>
        </p:txBody>
      </p:sp>
      <p:sp>
        <p:nvSpPr>
          <p:cNvPr id="7" name="badge 3"/>
          <p:cNvSpPr/>
          <p:nvPr/>
        </p:nvSpPr>
        <p:spPr>
          <a:xfrm>
            <a:off x="731520" y="4078224"/>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8" name="demo step 3"/>
          <p:cNvSpPr txBox="1"/>
          <p:nvPr/>
        </p:nvSpPr>
        <p:spPr>
          <a:xfrm>
            <a:off x="1417320" y="4096511"/>
            <a:ext cx="8229600" cy="457200"/>
          </a:xfrm>
          <a:prstGeom prst="rect">
            <a:avLst/>
          </a:prstGeom>
          <a:noFill/>
        </p:spPr>
        <p:txBody>
          <a:bodyPr wrap="square" lIns="0" rIns="0" tIns="0" bIns="0" anchor="ctr">
            <a:spAutoFit/>
          </a:bodyPr>
          <a:lstStyle/>
          <a:p>
            <a:pPr algn="l"/>
            <a:r>
              <a:rPr sz="2000" b="0">
                <a:solidFill>
                  <a:srgbClr val="FFFFFF"/>
                </a:solidFill>
                <a:latin typeface="Calibri"/>
              </a:rPr>
              <a:t>Herkomst van een getal in de lineage explorer</a:t>
            </a:r>
          </a:p>
        </p:txBody>
      </p:sp>
      <p:sp>
        <p:nvSpPr>
          <p:cNvPr id="9" name="badge 4"/>
          <p:cNvSpPr/>
          <p:nvPr/>
        </p:nvSpPr>
        <p:spPr>
          <a:xfrm>
            <a:off x="731520" y="4791456"/>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0" name="demo step 4"/>
          <p:cNvSpPr txBox="1"/>
          <p:nvPr/>
        </p:nvSpPr>
        <p:spPr>
          <a:xfrm>
            <a:off x="1417320" y="4809744"/>
            <a:ext cx="8229600" cy="457200"/>
          </a:xfrm>
          <a:prstGeom prst="rect">
            <a:avLst/>
          </a:prstGeom>
          <a:noFill/>
        </p:spPr>
        <p:txBody>
          <a:bodyPr wrap="square" lIns="0" rIns="0" tIns="0" bIns="0" anchor="ctr">
            <a:spAutoFit/>
          </a:bodyPr>
          <a:lstStyle/>
          <a:p>
            <a:pPr algn="l"/>
            <a:r>
              <a:rPr sz="2000" b="0">
                <a:solidFill>
                  <a:srgbClr val="FFFFFF"/>
                </a:solidFill>
                <a:latin typeface="Calibri"/>
              </a:rPr>
              <a:t>Dagster: workflow en controles</a:t>
            </a:r>
          </a:p>
        </p:txBody>
      </p:sp>
      <p:sp>
        <p:nvSpPr>
          <p:cNvPr id="11" name="badge 5"/>
          <p:cNvSpPr/>
          <p:nvPr/>
        </p:nvSpPr>
        <p:spPr>
          <a:xfrm>
            <a:off x="731520" y="5504688"/>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2" name="demo step 5"/>
          <p:cNvSpPr txBox="1"/>
          <p:nvPr/>
        </p:nvSpPr>
        <p:spPr>
          <a:xfrm>
            <a:off x="1417320" y="5522975"/>
            <a:ext cx="8229600" cy="457200"/>
          </a:xfrm>
          <a:prstGeom prst="rect">
            <a:avLst/>
          </a:prstGeom>
          <a:noFill/>
        </p:spPr>
        <p:txBody>
          <a:bodyPr wrap="square" lIns="0" rIns="0" tIns="0" bIns="0" anchor="ctr">
            <a:spAutoFit/>
          </a:bodyPr>
          <a:lstStyle/>
          <a:p>
            <a:pPr algn="l"/>
            <a:r>
              <a:rPr sz="2000" b="0">
                <a:solidFill>
                  <a:srgbClr val="FFFFFF"/>
                </a:solidFill>
                <a:latin typeface="Calibri"/>
              </a:rPr>
              <a:t>De lakehouse viewer: datakwaliteit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Betrouwbaar en verantwoord</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8</a:t>
            </a:r>
          </a:p>
        </p:txBody>
      </p:sp>
      <p:sp>
        <p:nvSpPr>
          <p:cNvPr id="5" name="trust card 1"/>
          <p:cNvSpPr/>
          <p:nvPr/>
        </p:nvSpPr>
        <p:spPr>
          <a:xfrm>
            <a:off x="548640"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ust big 1"/>
          <p:cNvSpPr txBox="1"/>
          <p:nvPr/>
        </p:nvSpPr>
        <p:spPr>
          <a:xfrm>
            <a:off x="91440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383</a:t>
            </a:r>
          </a:p>
        </p:txBody>
      </p:sp>
      <p:sp>
        <p:nvSpPr>
          <p:cNvPr id="7" name="trust head 1"/>
          <p:cNvSpPr txBox="1"/>
          <p:nvPr/>
        </p:nvSpPr>
        <p:spPr>
          <a:xfrm>
            <a:off x="91440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geautomatiseerde tests</a:t>
            </a:r>
          </a:p>
        </p:txBody>
      </p:sp>
      <p:sp>
        <p:nvSpPr>
          <p:cNvPr id="8" name="trust body 1"/>
          <p:cNvSpPr txBox="1"/>
          <p:nvPr/>
        </p:nvSpPr>
        <p:spPr>
          <a:xfrm>
            <a:off x="91440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Bij elke wijziging opnieuw, ook op GitHub op een schone machine</a:t>
            </a:r>
          </a:p>
        </p:txBody>
      </p:sp>
      <p:sp>
        <p:nvSpPr>
          <p:cNvPr id="9" name="trust card 2"/>
          <p:cNvSpPr/>
          <p:nvPr/>
        </p:nvSpPr>
        <p:spPr>
          <a:xfrm>
            <a:off x="429767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 big 2"/>
          <p:cNvSpPr txBox="1"/>
          <p:nvPr/>
        </p:nvSpPr>
        <p:spPr>
          <a:xfrm>
            <a:off x="466344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0</a:t>
            </a:r>
          </a:p>
        </p:txBody>
      </p:sp>
      <p:sp>
        <p:nvSpPr>
          <p:cNvPr id="11" name="trust head 2"/>
          <p:cNvSpPr txBox="1"/>
          <p:nvPr/>
        </p:nvSpPr>
        <p:spPr>
          <a:xfrm>
            <a:off x="466344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persoonsgegevens van verzekerden</a:t>
            </a:r>
          </a:p>
        </p:txBody>
      </p:sp>
      <p:sp>
        <p:nvSpPr>
          <p:cNvPr id="12" name="trust body 2"/>
          <p:cNvSpPr txBox="1"/>
          <p:nvPr/>
        </p:nvSpPr>
        <p:spPr>
          <a:xfrm>
            <a:off x="466344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Alleen openbare, geaggregeerde cijfers; een DPIA pas bij koppeling aan eigen data</a:t>
            </a:r>
          </a:p>
        </p:txBody>
      </p:sp>
      <p:sp>
        <p:nvSpPr>
          <p:cNvPr id="13" name="trust card 3"/>
          <p:cNvSpPr/>
          <p:nvPr/>
        </p:nvSpPr>
        <p:spPr>
          <a:xfrm>
            <a:off x="804671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rust big 3"/>
          <p:cNvSpPr txBox="1"/>
          <p:nvPr/>
        </p:nvSpPr>
        <p:spPr>
          <a:xfrm>
            <a:off x="841248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7</a:t>
            </a:r>
          </a:p>
        </p:txBody>
      </p:sp>
      <p:sp>
        <p:nvSpPr>
          <p:cNvPr id="15" name="trust head 3"/>
          <p:cNvSpPr txBox="1"/>
          <p:nvPr/>
        </p:nvSpPr>
        <p:spPr>
          <a:xfrm>
            <a:off x="841248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fouten van de AI-assistent gevonden</a:t>
            </a:r>
          </a:p>
        </p:txBody>
      </p:sp>
      <p:sp>
        <p:nvSpPr>
          <p:cNvPr id="16" name="trust body 3"/>
          <p:cNvSpPr txBox="1"/>
          <p:nvPr/>
        </p:nvSpPr>
        <p:spPr>
          <a:xfrm>
            <a:off x="841248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Claude hielp bouwen; niets op vertrouwen aangenomen, alles getest en gemeten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548640"/>
            <a:ext cx="10058400" cy="914400"/>
          </a:xfrm>
          <a:prstGeom prst="rect">
            <a:avLst/>
          </a:prstGeom>
          <a:noFill/>
        </p:spPr>
        <p:txBody>
          <a:bodyPr wrap="square" lIns="0" rIns="0" tIns="0" bIns="0" anchor="t">
            <a:spAutoFit/>
          </a:bodyPr>
          <a:lstStyle/>
          <a:p>
            <a:pPr algn="l"/>
            <a:r>
              <a:rPr sz="4000" b="1">
                <a:solidFill>
                  <a:srgbClr val="FFFFFF"/>
                </a:solidFill>
                <a:latin typeface="Calibri"/>
              </a:rPr>
              <a:t>Conclusie en advies</a:t>
            </a:r>
          </a:p>
        </p:txBody>
      </p:sp>
      <p:sp>
        <p:nvSpPr>
          <p:cNvPr id="3" name="conclusion"/>
          <p:cNvSpPr txBox="1"/>
          <p:nvPr/>
        </p:nvSpPr>
        <p:spPr>
          <a:xfrm>
            <a:off x="731520" y="1737360"/>
            <a:ext cx="5120640" cy="4206240"/>
          </a:xfrm>
          <a:prstGeom prst="rect">
            <a:avLst/>
          </a:prstGeom>
          <a:noFill/>
        </p:spPr>
        <p:txBody>
          <a:bodyPr wrap="square" lIns="0" rIns="0" tIns="0" bIns="0" anchor="t">
            <a:spAutoFit/>
          </a:bodyPr>
          <a:lstStyle/>
          <a:p>
            <a:pPr algn="l">
              <a:spcAft>
                <a:spcPts val="1200"/>
              </a:spcAft>
            </a:pPr>
            <a:r>
              <a:rPr sz="2200" b="1">
                <a:solidFill>
                  <a:srgbClr val="BFDBD1"/>
                </a:solidFill>
                <a:latin typeface="Calibri"/>
              </a:rPr>
              <a:t>Conclusie</a:t>
            </a:r>
          </a:p>
          <a:p>
            <a:pPr algn="l">
              <a:spcAft>
                <a:spcPts val="1200"/>
              </a:spcAft>
            </a:pPr>
            <a:r>
              <a:rPr sz="1700" b="0">
                <a:solidFill>
                  <a:srgbClr val="FFFFFF"/>
                </a:solidFill>
                <a:latin typeface="Calibri"/>
              </a:rPr>
              <a:t>Sector en grootte gaan duidelijk samen met hoger verzuim: de zorg 40% boven landelijk, grote bedrijven 16%.</a:t>
            </a:r>
          </a:p>
          <a:p>
            <a:pPr algn="l">
              <a:spcAft>
                <a:spcPts val="1200"/>
              </a:spcAft>
            </a:pPr>
            <a:r>
              <a:rPr sz="1700" b="0">
                <a:solidFill>
                  <a:srgbClr val="FFFFFF"/>
                </a:solidFill>
                <a:latin typeface="Calibri"/>
              </a:rPr>
              <a:t>Het platform maakt dit herhaalbaar, gecontroleerd en herleidbaar, met alleen openbare data.</a:t>
            </a:r>
          </a:p>
        </p:txBody>
      </p:sp>
      <p:sp>
        <p:nvSpPr>
          <p:cNvPr id="4" name="advice"/>
          <p:cNvSpPr txBox="1"/>
          <p:nvPr/>
        </p:nvSpPr>
        <p:spPr>
          <a:xfrm>
            <a:off x="6400800" y="1737360"/>
            <a:ext cx="5120640" cy="4206240"/>
          </a:xfrm>
          <a:prstGeom prst="rect">
            <a:avLst/>
          </a:prstGeom>
          <a:noFill/>
        </p:spPr>
        <p:txBody>
          <a:bodyPr wrap="square" lIns="0" rIns="0" tIns="0" bIns="0" anchor="t">
            <a:spAutoFit/>
          </a:bodyPr>
          <a:lstStyle/>
          <a:p>
            <a:pPr algn="l">
              <a:spcAft>
                <a:spcPts val="1000"/>
              </a:spcAft>
            </a:pPr>
            <a:r>
              <a:rPr sz="2200" b="1">
                <a:solidFill>
                  <a:srgbClr val="BFDBD1"/>
                </a:solidFill>
                <a:latin typeface="Calibri"/>
              </a:rPr>
              <a:t>Advies</a:t>
            </a:r>
          </a:p>
          <a:p>
            <a:pPr algn="l">
              <a:spcAft>
                <a:spcPts val="1000"/>
              </a:spcAft>
            </a:pPr>
            <a:r>
              <a:rPr sz="1700" b="0">
                <a:solidFill>
                  <a:srgbClr val="FFFFFF"/>
                </a:solidFill>
                <a:latin typeface="Calibri"/>
              </a:rPr>
              <a:t>Gebruik de index naast de eigen cijfers, op groepsniveau</a:t>
            </a:r>
          </a:p>
          <a:p>
            <a:pPr algn="l">
              <a:spcAft>
                <a:spcPts val="1000"/>
              </a:spcAft>
            </a:pPr>
            <a:r>
              <a:rPr sz="1700" b="0">
                <a:solidFill>
                  <a:srgbClr val="FFFFFF"/>
                </a:solidFill>
                <a:latin typeface="Calibri"/>
              </a:rPr>
              <a:t>Bevestig trends met definitieve cijfers</a:t>
            </a:r>
          </a:p>
          <a:p>
            <a:pPr algn="l">
              <a:spcAft>
                <a:spcPts val="1000"/>
              </a:spcAft>
            </a:pPr>
            <a:r>
              <a:rPr sz="1700" b="0">
                <a:solidFill>
                  <a:srgbClr val="FFFFFF"/>
                </a:solidFill>
                <a:latin typeface="Calibri"/>
              </a:rPr>
              <a:t>Laat compliance premiedifferentiatie toetsen</a:t>
            </a:r>
          </a:p>
          <a:p>
            <a:pPr algn="l">
              <a:spcAft>
                <a:spcPts val="1000"/>
              </a:spcAft>
            </a:pPr>
            <a:r>
              <a:rPr sz="1700" b="0">
                <a:solidFill>
                  <a:srgbClr val="FFFFFF"/>
                </a:solidFill>
                <a:latin typeface="Calibri"/>
              </a:rPr>
              <a:t>Koppel aan schadegegevens pas na een DPIA</a:t>
            </a:r>
          </a:p>
          <a:p>
            <a:pPr algn="l">
              <a:spcAft>
                <a:spcPts val="1000"/>
              </a:spcAft>
            </a:pPr>
            <a:r>
              <a:rPr sz="1700" b="1">
                <a:solidFill>
                  <a:srgbClr val="BFDBD1"/>
                </a:solidFill>
                <a:latin typeface="Calibri"/>
              </a:rPr>
              <a:t>Volgende stap: Azure volgens het clouddesign</a:t>
            </a:r>
          </a:p>
        </p:txBody>
      </p:sp>
      <p:sp>
        <p:nvSpPr>
          <p:cNvPr id="5" name="code link"/>
          <p:cNvSpPr txBox="1"/>
          <p:nvPr/>
        </p:nvSpPr>
        <p:spPr>
          <a:xfrm>
            <a:off x="731520" y="6035040"/>
            <a:ext cx="10515600" cy="365760"/>
          </a:xfrm>
          <a:prstGeom prst="rect">
            <a:avLst/>
          </a:prstGeom>
          <a:noFill/>
        </p:spPr>
        <p:txBody>
          <a:bodyPr wrap="square" lIns="0" rIns="0" tIns="0" bIns="0" anchor="t">
            <a:spAutoFit/>
          </a:bodyPr>
          <a:lstStyle/>
          <a:p>
            <a:pPr algn="l"/>
            <a:r>
              <a:rPr sz="1400" b="0">
                <a:solidFill>
                  <a:srgbClr val="BFDBD1"/>
                </a:solidFill>
                <a:latin typeface="Calibri"/>
              </a:rPr>
              <a:t>Code: github.com/stefancodecommit/AOV_Lakehouse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